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3" r:id="rId9"/>
    <p:sldId id="264" r:id="rId10"/>
  </p:sldIdLst>
  <p:sldSz cx="18288000" cy="10287000"/>
  <p:notesSz cx="6858000" cy="9144000"/>
  <p:embeddedFontLst>
    <p:embeddedFont>
      <p:font typeface="Roboto" panose="02000000000000000000" pitchFamily="2" charset="0"/>
      <p:regular r:id="rId11"/>
    </p:embeddedFont>
    <p:embeddedFont>
      <p:font typeface="Roboto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18" Type="http://schemas.openxmlformats.org/officeDocument/2006/relationships/image" Target="../media/image40.png"/><Relationship Id="rId3" Type="http://schemas.openxmlformats.org/officeDocument/2006/relationships/image" Target="../media/image25.png"/><Relationship Id="rId21" Type="http://schemas.openxmlformats.org/officeDocument/2006/relationships/image" Target="../media/image43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5" Type="http://schemas.openxmlformats.org/officeDocument/2006/relationships/image" Target="../media/image47.png"/><Relationship Id="rId2" Type="http://schemas.openxmlformats.org/officeDocument/2006/relationships/image" Target="../media/image24.png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24" Type="http://schemas.openxmlformats.org/officeDocument/2006/relationships/image" Target="../media/image46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23" Type="http://schemas.openxmlformats.org/officeDocument/2006/relationships/image" Target="../media/image45.png"/><Relationship Id="rId10" Type="http://schemas.openxmlformats.org/officeDocument/2006/relationships/image" Target="../media/image32.png"/><Relationship Id="rId19" Type="http://schemas.openxmlformats.org/officeDocument/2006/relationships/image" Target="../media/image41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Relationship Id="rId22" Type="http://schemas.openxmlformats.org/officeDocument/2006/relationships/image" Target="../media/image4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2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5" Type="http://schemas.openxmlformats.org/officeDocument/2006/relationships/image" Target="../media/image74.png"/><Relationship Id="rId10" Type="http://schemas.openxmlformats.org/officeDocument/2006/relationships/image" Target="../media/image69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Relationship Id="rId14" Type="http://schemas.openxmlformats.org/officeDocument/2006/relationships/image" Target="../media/image7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6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12" Type="http://schemas.openxmlformats.org/officeDocument/2006/relationships/image" Target="../media/image85.png"/><Relationship Id="rId2" Type="http://schemas.openxmlformats.org/officeDocument/2006/relationships/image" Target="../media/image75.png"/><Relationship Id="rId16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5" Type="http://schemas.openxmlformats.org/officeDocument/2006/relationships/image" Target="../media/image78.png"/><Relationship Id="rId15" Type="http://schemas.openxmlformats.org/officeDocument/2006/relationships/image" Target="../media/image88.pn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Relationship Id="rId14" Type="http://schemas.openxmlformats.org/officeDocument/2006/relationships/image" Target="../media/image8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5" Type="http://schemas.openxmlformats.org/officeDocument/2006/relationships/image" Target="../media/image93.png"/><Relationship Id="rId10" Type="http://schemas.openxmlformats.org/officeDocument/2006/relationships/image" Target="../media/image98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94000" y="806954"/>
            <a:ext cx="5792979" cy="5520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03"/>
              </a:lnSpc>
            </a:pPr>
            <a:r>
              <a:rPr lang="en-US" sz="8876" b="1">
                <a:solidFill>
                  <a:srgbClr val="062C67"/>
                </a:solidFill>
                <a:latin typeface="Roboto Bold"/>
                <a:ea typeface="Roboto Bold"/>
                <a:cs typeface="Roboto Bold"/>
                <a:sym typeface="Roboto Bold"/>
              </a:rPr>
              <a:t>AI-Based Voice and Gesture Controlled Wheelchair</a:t>
            </a:r>
          </a:p>
        </p:txBody>
      </p:sp>
      <p:sp>
        <p:nvSpPr>
          <p:cNvPr id="4" name="Freeform 4"/>
          <p:cNvSpPr/>
          <p:nvPr/>
        </p:nvSpPr>
        <p:spPr>
          <a:xfrm>
            <a:off x="1082842" y="6635716"/>
            <a:ext cx="1750048" cy="229572"/>
          </a:xfrm>
          <a:custGeom>
            <a:avLst/>
            <a:gdLst/>
            <a:ahLst/>
            <a:cxnLst/>
            <a:rect l="l" t="t" r="r" b="b"/>
            <a:pathLst>
              <a:path w="1750048" h="229572">
                <a:moveTo>
                  <a:pt x="0" y="0"/>
                </a:moveTo>
                <a:lnTo>
                  <a:pt x="1750048" y="0"/>
                </a:lnTo>
                <a:lnTo>
                  <a:pt x="175004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106987" y="7475927"/>
            <a:ext cx="4494226" cy="39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2"/>
              </a:lnSpc>
            </a:pPr>
            <a:r>
              <a:rPr lang="en-US" sz="297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Smart mobility assistance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1912" y="8183787"/>
            <a:ext cx="4001747" cy="39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2"/>
              </a:lnSpc>
            </a:pPr>
            <a:r>
              <a:rPr lang="en-US" sz="297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Gesture + voice control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11421" y="8906707"/>
            <a:ext cx="4050899" cy="39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2"/>
              </a:lnSpc>
            </a:pPr>
            <a:r>
              <a:rPr lang="en-US" sz="297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ESP32 based prototype</a:t>
            </a:r>
          </a:p>
        </p:txBody>
      </p:sp>
      <p:sp>
        <p:nvSpPr>
          <p:cNvPr id="8" name="Freeform 8"/>
          <p:cNvSpPr/>
          <p:nvPr/>
        </p:nvSpPr>
        <p:spPr>
          <a:xfrm>
            <a:off x="8706488" y="634055"/>
            <a:ext cx="8717426" cy="9226597"/>
          </a:xfrm>
          <a:custGeom>
            <a:avLst/>
            <a:gdLst/>
            <a:ahLst/>
            <a:cxnLst/>
            <a:rect l="l" t="t" r="r" b="b"/>
            <a:pathLst>
              <a:path w="8717426" h="9226597">
                <a:moveTo>
                  <a:pt x="0" y="0"/>
                </a:moveTo>
                <a:lnTo>
                  <a:pt x="8717426" y="0"/>
                </a:lnTo>
                <a:lnTo>
                  <a:pt x="8717426" y="9226597"/>
                </a:lnTo>
                <a:lnTo>
                  <a:pt x="0" y="92265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0008086" y="0"/>
            <a:ext cx="8279914" cy="10287000"/>
          </a:xfrm>
          <a:custGeom>
            <a:avLst/>
            <a:gdLst/>
            <a:ahLst/>
            <a:cxnLst/>
            <a:rect l="l" t="t" r="r" b="b"/>
            <a:pathLst>
              <a:path w="8279914" h="10287000">
                <a:moveTo>
                  <a:pt x="0" y="0"/>
                </a:moveTo>
                <a:lnTo>
                  <a:pt x="8279914" y="0"/>
                </a:lnTo>
                <a:lnTo>
                  <a:pt x="827991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88456" y="1097356"/>
            <a:ext cx="6347350" cy="2757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50"/>
              </a:lnSpc>
            </a:pPr>
            <a:r>
              <a:rPr lang="en-US" sz="9000" b="1" spc="-104" dirty="0">
                <a:solidFill>
                  <a:srgbClr val="062D5D"/>
                </a:solidFill>
                <a:latin typeface="Roboto Bold"/>
                <a:ea typeface="Roboto Bold"/>
                <a:cs typeface="Roboto Bold"/>
                <a:sym typeface="Roboto Bold"/>
              </a:rPr>
              <a:t>Problem Statement</a:t>
            </a:r>
          </a:p>
        </p:txBody>
      </p:sp>
      <p:sp>
        <p:nvSpPr>
          <p:cNvPr id="5" name="Freeform 5"/>
          <p:cNvSpPr/>
          <p:nvPr/>
        </p:nvSpPr>
        <p:spPr>
          <a:xfrm>
            <a:off x="1082842" y="4066699"/>
            <a:ext cx="1750048" cy="229572"/>
          </a:xfrm>
          <a:custGeom>
            <a:avLst/>
            <a:gdLst/>
            <a:ahLst/>
            <a:cxnLst/>
            <a:rect l="l" t="t" r="r" b="b"/>
            <a:pathLst>
              <a:path w="1750048" h="229572">
                <a:moveTo>
                  <a:pt x="0" y="0"/>
                </a:moveTo>
                <a:lnTo>
                  <a:pt x="1750048" y="0"/>
                </a:lnTo>
                <a:lnTo>
                  <a:pt x="175004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A00B70-56EE-F339-508E-068B81DB8025}"/>
              </a:ext>
            </a:extLst>
          </p:cNvPr>
          <p:cNvSpPr txBox="1"/>
          <p:nvPr/>
        </p:nvSpPr>
        <p:spPr>
          <a:xfrm>
            <a:off x="609600" y="4296271"/>
            <a:ext cx="914400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4000" dirty="0"/>
              <a:t>Paralysis can cause </a:t>
            </a:r>
            <a:r>
              <a:rPr lang="en-IN" sz="4000" b="1" dirty="0"/>
              <a:t>severe loss of muscle movement</a:t>
            </a:r>
            <a:endParaRPr lang="en-IN" sz="4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4000" dirty="0"/>
              <a:t>Patients may have </a:t>
            </a:r>
            <a:r>
              <a:rPr lang="en-IN" sz="4000" b="1" dirty="0"/>
              <a:t>limited control of their hands and arms</a:t>
            </a:r>
            <a:endParaRPr lang="en-IN" sz="4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4000" dirty="0"/>
              <a:t>Independent wheelchair movement can become difficult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4000" dirty="0"/>
              <a:t>Continuous physical control may not be possible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4000" dirty="0"/>
              <a:t>Patients may depend on </a:t>
            </a:r>
            <a:r>
              <a:rPr lang="en-IN" sz="4000" b="1" dirty="0"/>
              <a:t>caregivers for mobility</a:t>
            </a:r>
            <a:endParaRPr lang="en-IN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5793" y="1141570"/>
            <a:ext cx="4861309" cy="2373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37"/>
              </a:lnSpc>
            </a:pPr>
            <a:r>
              <a:rPr lang="en-US" sz="8798" b="1" spc="-85">
                <a:solidFill>
                  <a:srgbClr val="0B366F"/>
                </a:solidFill>
                <a:latin typeface="Roboto Bold"/>
                <a:ea typeface="Roboto Bold"/>
                <a:cs typeface="Roboto Bold"/>
                <a:sym typeface="Roboto Bold"/>
              </a:rPr>
              <a:t>Proposed Solution</a:t>
            </a:r>
          </a:p>
        </p:txBody>
      </p:sp>
      <p:sp>
        <p:nvSpPr>
          <p:cNvPr id="4" name="Freeform 4"/>
          <p:cNvSpPr/>
          <p:nvPr/>
        </p:nvSpPr>
        <p:spPr>
          <a:xfrm>
            <a:off x="864086" y="3640352"/>
            <a:ext cx="1750048" cy="437279"/>
          </a:xfrm>
          <a:custGeom>
            <a:avLst/>
            <a:gdLst/>
            <a:ahLst/>
            <a:cxnLst/>
            <a:rect l="l" t="t" r="r" b="b"/>
            <a:pathLst>
              <a:path w="1750048" h="437279">
                <a:moveTo>
                  <a:pt x="0" y="0"/>
                </a:moveTo>
                <a:lnTo>
                  <a:pt x="1750048" y="0"/>
                </a:lnTo>
                <a:lnTo>
                  <a:pt x="175004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30573" y="4437383"/>
            <a:ext cx="3383283" cy="861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654" spc="-25">
                <a:solidFill>
                  <a:srgbClr val="2B2B2B"/>
                </a:solidFill>
                <a:latin typeface="Roboto"/>
                <a:ea typeface="Roboto"/>
                <a:cs typeface="Roboto"/>
                <a:sym typeface="Roboto"/>
              </a:rPr>
              <a:t>Hand gestures control</a:t>
            </a:r>
          </a:p>
          <a:p>
            <a:pPr algn="l">
              <a:lnSpc>
                <a:spcPts val="3450"/>
              </a:lnSpc>
            </a:pPr>
            <a:r>
              <a:rPr lang="en-US" sz="2654" spc="-25">
                <a:solidFill>
                  <a:srgbClr val="2B2B2B"/>
                </a:solidFill>
                <a:latin typeface="Roboto"/>
                <a:ea typeface="Roboto"/>
                <a:cs typeface="Roboto"/>
                <a:sym typeface="Roboto"/>
              </a:rPr>
              <a:t>wheelchair movement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25524" y="5612129"/>
            <a:ext cx="3888244" cy="861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654" spc="-25">
                <a:solidFill>
                  <a:srgbClr val="2B2B2B"/>
                </a:solidFill>
                <a:latin typeface="Roboto"/>
                <a:ea typeface="Roboto"/>
                <a:cs typeface="Roboto"/>
                <a:sym typeface="Roboto"/>
              </a:rPr>
              <a:t>Voice commands provide</a:t>
            </a:r>
          </a:p>
          <a:p>
            <a:pPr algn="l">
              <a:lnSpc>
                <a:spcPts val="3450"/>
              </a:lnSpc>
            </a:pPr>
            <a:r>
              <a:rPr lang="en-US" sz="2654" spc="-25">
                <a:solidFill>
                  <a:srgbClr val="2B2B2B"/>
                </a:solidFill>
                <a:latin typeface="Roboto"/>
                <a:ea typeface="Roboto"/>
                <a:cs typeface="Roboto"/>
                <a:sym typeface="Roboto"/>
              </a:rPr>
              <a:t>an alternative input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3891" y="6786874"/>
            <a:ext cx="3051492" cy="861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654" spc="-25">
                <a:solidFill>
                  <a:srgbClr val="2B2B2B"/>
                </a:solidFill>
                <a:latin typeface="Roboto"/>
                <a:ea typeface="Roboto"/>
                <a:cs typeface="Roboto"/>
                <a:sym typeface="Roboto"/>
              </a:rPr>
              <a:t>Python + MediaPipe</a:t>
            </a:r>
          </a:p>
          <a:p>
            <a:pPr algn="l">
              <a:lnSpc>
                <a:spcPts val="3450"/>
              </a:lnSpc>
            </a:pPr>
            <a:r>
              <a:rPr lang="en-US" sz="2654" spc="-25">
                <a:solidFill>
                  <a:srgbClr val="2B2B2B"/>
                </a:solidFill>
                <a:latin typeface="Roboto"/>
                <a:ea typeface="Roboto"/>
                <a:cs typeface="Roboto"/>
                <a:sym typeface="Roboto"/>
              </a:rPr>
              <a:t>process gestures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2293" y="7961620"/>
            <a:ext cx="3211314" cy="861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654" spc="-25">
                <a:solidFill>
                  <a:srgbClr val="2B2B2B"/>
                </a:solidFill>
                <a:latin typeface="Roboto"/>
                <a:ea typeface="Roboto"/>
                <a:cs typeface="Roboto"/>
                <a:sym typeface="Roboto"/>
              </a:rPr>
              <a:t>Bluetooth sends commands to ESP32</a:t>
            </a:r>
          </a:p>
        </p:txBody>
      </p:sp>
      <p:sp>
        <p:nvSpPr>
          <p:cNvPr id="9" name="Freeform 9"/>
          <p:cNvSpPr/>
          <p:nvPr/>
        </p:nvSpPr>
        <p:spPr>
          <a:xfrm>
            <a:off x="5873598" y="3214004"/>
            <a:ext cx="2625072" cy="6001661"/>
          </a:xfrm>
          <a:custGeom>
            <a:avLst/>
            <a:gdLst/>
            <a:ahLst/>
            <a:cxnLst/>
            <a:rect l="l" t="t" r="r" b="b"/>
            <a:pathLst>
              <a:path w="2625072" h="6001661">
                <a:moveTo>
                  <a:pt x="0" y="0"/>
                </a:moveTo>
                <a:lnTo>
                  <a:pt x="2625072" y="0"/>
                </a:lnTo>
                <a:lnTo>
                  <a:pt x="2625072" y="6001661"/>
                </a:lnTo>
                <a:lnTo>
                  <a:pt x="0" y="60016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873598" y="3214004"/>
            <a:ext cx="2625072" cy="1082267"/>
          </a:xfrm>
          <a:custGeom>
            <a:avLst/>
            <a:gdLst/>
            <a:ahLst/>
            <a:cxnLst/>
            <a:rect l="l" t="t" r="r" b="b"/>
            <a:pathLst>
              <a:path w="2625072" h="1082267">
                <a:moveTo>
                  <a:pt x="0" y="0"/>
                </a:moveTo>
                <a:lnTo>
                  <a:pt x="2625072" y="0"/>
                </a:lnTo>
                <a:lnTo>
                  <a:pt x="262507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748622" y="4493047"/>
            <a:ext cx="1093780" cy="1300906"/>
          </a:xfrm>
          <a:custGeom>
            <a:avLst/>
            <a:gdLst/>
            <a:ahLst/>
            <a:cxnLst/>
            <a:rect l="l" t="t" r="r" b="b"/>
            <a:pathLst>
              <a:path w="1093780" h="1300906">
                <a:moveTo>
                  <a:pt x="0" y="0"/>
                </a:moveTo>
                <a:lnTo>
                  <a:pt x="1093780" y="0"/>
                </a:lnTo>
                <a:lnTo>
                  <a:pt x="109378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6311416" y="5847886"/>
            <a:ext cx="1824510" cy="356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3"/>
              </a:lnSpc>
            </a:pPr>
            <a:r>
              <a:rPr lang="en-US" sz="2271" spc="-22">
                <a:solidFill>
                  <a:srgbClr val="2B2B2B"/>
                </a:solidFill>
                <a:latin typeface="Roboto"/>
                <a:ea typeface="Roboto"/>
                <a:cs typeface="Roboto"/>
                <a:sym typeface="Roboto"/>
              </a:rPr>
              <a:t>hand gestures</a:t>
            </a:r>
          </a:p>
        </p:txBody>
      </p:sp>
      <p:sp>
        <p:nvSpPr>
          <p:cNvPr id="13" name="Freeform 13"/>
          <p:cNvSpPr/>
          <p:nvPr/>
        </p:nvSpPr>
        <p:spPr>
          <a:xfrm>
            <a:off x="6748622" y="6635716"/>
            <a:ext cx="875024" cy="1300906"/>
          </a:xfrm>
          <a:custGeom>
            <a:avLst/>
            <a:gdLst/>
            <a:ahLst/>
            <a:cxnLst/>
            <a:rect l="l" t="t" r="r" b="b"/>
            <a:pathLst>
              <a:path w="875024" h="1300906">
                <a:moveTo>
                  <a:pt x="0" y="0"/>
                </a:moveTo>
                <a:lnTo>
                  <a:pt x="875024" y="0"/>
                </a:lnTo>
                <a:lnTo>
                  <a:pt x="875024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6122440" y="7866039"/>
            <a:ext cx="2202462" cy="356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3"/>
              </a:lnSpc>
            </a:pPr>
            <a:r>
              <a:rPr lang="en-US" sz="2271" spc="-22">
                <a:solidFill>
                  <a:srgbClr val="2B2B2B"/>
                </a:solidFill>
                <a:latin typeface="Roboto"/>
                <a:ea typeface="Roboto"/>
                <a:cs typeface="Roboto"/>
                <a:sym typeface="Roboto"/>
              </a:rPr>
              <a:t>voice commands</a:t>
            </a:r>
          </a:p>
        </p:txBody>
      </p:sp>
      <p:sp>
        <p:nvSpPr>
          <p:cNvPr id="15" name="Freeform 15"/>
          <p:cNvSpPr/>
          <p:nvPr/>
        </p:nvSpPr>
        <p:spPr>
          <a:xfrm>
            <a:off x="8268976" y="5783021"/>
            <a:ext cx="1093780" cy="437279"/>
          </a:xfrm>
          <a:custGeom>
            <a:avLst/>
            <a:gdLst/>
            <a:ahLst/>
            <a:cxnLst/>
            <a:rect l="l" t="t" r="r" b="b"/>
            <a:pathLst>
              <a:path w="1093780" h="437279">
                <a:moveTo>
                  <a:pt x="0" y="0"/>
                </a:moveTo>
                <a:lnTo>
                  <a:pt x="1093780" y="0"/>
                </a:lnTo>
                <a:lnTo>
                  <a:pt x="109378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8925244" y="3214004"/>
            <a:ext cx="2614134" cy="6001661"/>
          </a:xfrm>
          <a:custGeom>
            <a:avLst/>
            <a:gdLst/>
            <a:ahLst/>
            <a:cxnLst/>
            <a:rect l="l" t="t" r="r" b="b"/>
            <a:pathLst>
              <a:path w="2614134" h="6001661">
                <a:moveTo>
                  <a:pt x="0" y="0"/>
                </a:moveTo>
                <a:lnTo>
                  <a:pt x="2614134" y="0"/>
                </a:lnTo>
                <a:lnTo>
                  <a:pt x="2614134" y="6001661"/>
                </a:lnTo>
                <a:lnTo>
                  <a:pt x="0" y="600166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8925244" y="3214004"/>
            <a:ext cx="2614134" cy="1082267"/>
          </a:xfrm>
          <a:custGeom>
            <a:avLst/>
            <a:gdLst/>
            <a:ahLst/>
            <a:cxnLst/>
            <a:rect l="l" t="t" r="r" b="b"/>
            <a:pathLst>
              <a:path w="2614134" h="1082267">
                <a:moveTo>
                  <a:pt x="0" y="0"/>
                </a:moveTo>
                <a:lnTo>
                  <a:pt x="2614134" y="0"/>
                </a:lnTo>
                <a:lnTo>
                  <a:pt x="261413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9269016" y="3564653"/>
            <a:ext cx="2035969" cy="383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7"/>
              </a:lnSpc>
            </a:pPr>
            <a:r>
              <a:rPr lang="en-US" sz="2321" b="1" spc="-22">
                <a:solidFill>
                  <a:srgbClr val="FFFFF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PROCESSING</a:t>
            </a:r>
          </a:p>
        </p:txBody>
      </p:sp>
      <p:sp>
        <p:nvSpPr>
          <p:cNvPr id="19" name="Freeform 19"/>
          <p:cNvSpPr/>
          <p:nvPr/>
        </p:nvSpPr>
        <p:spPr>
          <a:xfrm>
            <a:off x="9144000" y="5138034"/>
            <a:ext cx="2187560" cy="1508614"/>
          </a:xfrm>
          <a:custGeom>
            <a:avLst/>
            <a:gdLst/>
            <a:ahLst/>
            <a:cxnLst/>
            <a:rect l="l" t="t" r="r" b="b"/>
            <a:pathLst>
              <a:path w="2187560" h="1508614">
                <a:moveTo>
                  <a:pt x="0" y="0"/>
                </a:moveTo>
                <a:lnTo>
                  <a:pt x="2187560" y="0"/>
                </a:lnTo>
                <a:lnTo>
                  <a:pt x="218756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9595095" y="7052753"/>
            <a:ext cx="1343090" cy="713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3"/>
              </a:lnSpc>
            </a:pPr>
            <a:r>
              <a:rPr lang="en-US" sz="2271" spc="-22">
                <a:solidFill>
                  <a:srgbClr val="2B2B2B"/>
                </a:solidFill>
                <a:latin typeface="Roboto"/>
                <a:ea typeface="Roboto"/>
                <a:cs typeface="Roboto"/>
                <a:sym typeface="Roboto"/>
              </a:rPr>
              <a:t>python + mediapipe</a:t>
            </a:r>
          </a:p>
        </p:txBody>
      </p:sp>
      <p:sp>
        <p:nvSpPr>
          <p:cNvPr id="21" name="Freeform 21"/>
          <p:cNvSpPr/>
          <p:nvPr/>
        </p:nvSpPr>
        <p:spPr>
          <a:xfrm>
            <a:off x="11320622" y="5783021"/>
            <a:ext cx="1093780" cy="437279"/>
          </a:xfrm>
          <a:custGeom>
            <a:avLst/>
            <a:gdLst/>
            <a:ahLst/>
            <a:cxnLst/>
            <a:rect l="l" t="t" r="r" b="b"/>
            <a:pathLst>
              <a:path w="1093780" h="437279">
                <a:moveTo>
                  <a:pt x="0" y="0"/>
                </a:moveTo>
                <a:lnTo>
                  <a:pt x="1093780" y="0"/>
                </a:lnTo>
                <a:lnTo>
                  <a:pt x="109378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1965952" y="3214004"/>
            <a:ext cx="2625072" cy="6001661"/>
          </a:xfrm>
          <a:custGeom>
            <a:avLst/>
            <a:gdLst/>
            <a:ahLst/>
            <a:cxnLst/>
            <a:rect l="l" t="t" r="r" b="b"/>
            <a:pathLst>
              <a:path w="2625072" h="6001661">
                <a:moveTo>
                  <a:pt x="0" y="0"/>
                </a:moveTo>
                <a:lnTo>
                  <a:pt x="2625072" y="0"/>
                </a:lnTo>
                <a:lnTo>
                  <a:pt x="2625072" y="6001661"/>
                </a:lnTo>
                <a:lnTo>
                  <a:pt x="0" y="600166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1965952" y="3214004"/>
            <a:ext cx="2625072" cy="1082267"/>
          </a:xfrm>
          <a:custGeom>
            <a:avLst/>
            <a:gdLst/>
            <a:ahLst/>
            <a:cxnLst/>
            <a:rect l="l" t="t" r="r" b="b"/>
            <a:pathLst>
              <a:path w="2625072" h="1082267">
                <a:moveTo>
                  <a:pt x="0" y="0"/>
                </a:moveTo>
                <a:lnTo>
                  <a:pt x="2625072" y="0"/>
                </a:lnTo>
                <a:lnTo>
                  <a:pt x="262507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2001500" y="3564653"/>
            <a:ext cx="2625328" cy="383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7"/>
              </a:lnSpc>
            </a:pPr>
            <a:r>
              <a:rPr lang="en-US" sz="2321" b="1" spc="-22">
                <a:solidFill>
                  <a:srgbClr val="FFFFF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COMMUNICATION</a:t>
            </a:r>
          </a:p>
        </p:txBody>
      </p:sp>
      <p:sp>
        <p:nvSpPr>
          <p:cNvPr id="25" name="Freeform 25"/>
          <p:cNvSpPr/>
          <p:nvPr/>
        </p:nvSpPr>
        <p:spPr>
          <a:xfrm>
            <a:off x="12840976" y="5138034"/>
            <a:ext cx="875024" cy="1508614"/>
          </a:xfrm>
          <a:custGeom>
            <a:avLst/>
            <a:gdLst/>
            <a:ahLst/>
            <a:cxnLst/>
            <a:rect l="l" t="t" r="r" b="b"/>
            <a:pathLst>
              <a:path w="875024" h="1508614">
                <a:moveTo>
                  <a:pt x="0" y="0"/>
                </a:moveTo>
                <a:lnTo>
                  <a:pt x="875024" y="0"/>
                </a:lnTo>
                <a:lnTo>
                  <a:pt x="87502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2678448" y="7097936"/>
            <a:ext cx="1218926" cy="356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3"/>
              </a:lnSpc>
            </a:pPr>
            <a:r>
              <a:rPr lang="en-US" sz="2271" spc="-22">
                <a:solidFill>
                  <a:srgbClr val="2B2B2B"/>
                </a:solidFill>
                <a:latin typeface="Roboto"/>
                <a:ea typeface="Roboto"/>
                <a:cs typeface="Roboto"/>
                <a:sym typeface="Roboto"/>
              </a:rPr>
              <a:t>bluetooth</a:t>
            </a:r>
          </a:p>
        </p:txBody>
      </p:sp>
      <p:sp>
        <p:nvSpPr>
          <p:cNvPr id="27" name="Freeform 27"/>
          <p:cNvSpPr/>
          <p:nvPr/>
        </p:nvSpPr>
        <p:spPr>
          <a:xfrm>
            <a:off x="14361330" y="5783021"/>
            <a:ext cx="885962" cy="437279"/>
          </a:xfrm>
          <a:custGeom>
            <a:avLst/>
            <a:gdLst/>
            <a:ahLst/>
            <a:cxnLst/>
            <a:rect l="l" t="t" r="r" b="b"/>
            <a:pathLst>
              <a:path w="885962" h="437279">
                <a:moveTo>
                  <a:pt x="0" y="0"/>
                </a:moveTo>
                <a:lnTo>
                  <a:pt x="885962" y="0"/>
                </a:lnTo>
                <a:lnTo>
                  <a:pt x="88596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4798842" y="3214004"/>
            <a:ext cx="2843828" cy="6001661"/>
          </a:xfrm>
          <a:custGeom>
            <a:avLst/>
            <a:gdLst/>
            <a:ahLst/>
            <a:cxnLst/>
            <a:rect l="l" t="t" r="r" b="b"/>
            <a:pathLst>
              <a:path w="2843828" h="6001661">
                <a:moveTo>
                  <a:pt x="0" y="0"/>
                </a:moveTo>
                <a:lnTo>
                  <a:pt x="2843828" y="0"/>
                </a:lnTo>
                <a:lnTo>
                  <a:pt x="2843828" y="6001661"/>
                </a:lnTo>
                <a:lnTo>
                  <a:pt x="0" y="600166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4798842" y="3214004"/>
            <a:ext cx="2843828" cy="1082267"/>
          </a:xfrm>
          <a:custGeom>
            <a:avLst/>
            <a:gdLst/>
            <a:ahLst/>
            <a:cxnLst/>
            <a:rect l="l" t="t" r="r" b="b"/>
            <a:pathLst>
              <a:path w="2843828" h="1082267">
                <a:moveTo>
                  <a:pt x="0" y="0"/>
                </a:moveTo>
                <a:lnTo>
                  <a:pt x="2843828" y="0"/>
                </a:lnTo>
                <a:lnTo>
                  <a:pt x="284382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5455110" y="4919394"/>
            <a:ext cx="1750048" cy="1727254"/>
          </a:xfrm>
          <a:custGeom>
            <a:avLst/>
            <a:gdLst/>
            <a:ahLst/>
            <a:cxnLst/>
            <a:rect l="l" t="t" r="r" b="b"/>
            <a:pathLst>
              <a:path w="1750048" h="1727254">
                <a:moveTo>
                  <a:pt x="0" y="0"/>
                </a:moveTo>
                <a:lnTo>
                  <a:pt x="1750048" y="0"/>
                </a:lnTo>
                <a:lnTo>
                  <a:pt x="1750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15238506" y="7052753"/>
            <a:ext cx="2079737" cy="713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3"/>
              </a:lnSpc>
            </a:pPr>
            <a:r>
              <a:rPr lang="en-US" sz="2271" spc="-22">
                <a:solidFill>
                  <a:srgbClr val="2B2B2B"/>
                </a:solidFill>
                <a:latin typeface="Roboto"/>
                <a:ea typeface="Roboto"/>
                <a:cs typeface="Roboto"/>
                <a:sym typeface="Roboto"/>
              </a:rPr>
              <a:t>commands sent to ESP32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162609" y="3564653"/>
            <a:ext cx="2277070" cy="383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7"/>
              </a:lnSpc>
            </a:pPr>
            <a:r>
              <a:rPr lang="en-US" sz="2321" b="1" spc="-22">
                <a:solidFill>
                  <a:srgbClr val="FFFFF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CONTROLLER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107906" y="3564653"/>
            <a:ext cx="2277070" cy="383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7"/>
              </a:lnSpc>
            </a:pPr>
            <a:r>
              <a:rPr lang="en-US" sz="2321" b="1" spc="-22">
                <a:solidFill>
                  <a:srgbClr val="FFFFF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INPUT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5162609" y="5658110"/>
            <a:ext cx="2277070" cy="383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7"/>
              </a:lnSpc>
            </a:pPr>
            <a:r>
              <a:rPr lang="en-US" sz="2321" b="1" spc="-22">
                <a:solidFill>
                  <a:srgbClr val="FFFFF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ESP32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08188" y="874400"/>
            <a:ext cx="9548383" cy="1134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8496" b="1" spc="-170">
                <a:solidFill>
                  <a:srgbClr val="133460"/>
                </a:solidFill>
                <a:latin typeface="Roboto Bold"/>
                <a:ea typeface="Roboto Bold"/>
                <a:cs typeface="Roboto Bold"/>
                <a:sym typeface="Roboto Bold"/>
              </a:rPr>
              <a:t>System Architecture</a:t>
            </a:r>
          </a:p>
        </p:txBody>
      </p:sp>
      <p:sp>
        <p:nvSpPr>
          <p:cNvPr id="4" name="Freeform 4"/>
          <p:cNvSpPr/>
          <p:nvPr/>
        </p:nvSpPr>
        <p:spPr>
          <a:xfrm>
            <a:off x="645330" y="2142670"/>
            <a:ext cx="1968804" cy="437279"/>
          </a:xfrm>
          <a:custGeom>
            <a:avLst/>
            <a:gdLst/>
            <a:ahLst/>
            <a:cxnLst/>
            <a:rect l="l" t="t" r="r" b="b"/>
            <a:pathLst>
              <a:path w="1968804" h="437279">
                <a:moveTo>
                  <a:pt x="0" y="0"/>
                </a:moveTo>
                <a:lnTo>
                  <a:pt x="1968804" y="0"/>
                </a:lnTo>
                <a:lnTo>
                  <a:pt x="196880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45330" y="2995365"/>
            <a:ext cx="2625072" cy="3443576"/>
          </a:xfrm>
          <a:custGeom>
            <a:avLst/>
            <a:gdLst/>
            <a:ahLst/>
            <a:cxnLst/>
            <a:rect l="l" t="t" r="r" b="b"/>
            <a:pathLst>
              <a:path w="2625072" h="3443576">
                <a:moveTo>
                  <a:pt x="0" y="0"/>
                </a:moveTo>
                <a:lnTo>
                  <a:pt x="2625072" y="0"/>
                </a:lnTo>
                <a:lnTo>
                  <a:pt x="2625072" y="3443575"/>
                </a:lnTo>
                <a:lnTo>
                  <a:pt x="0" y="3443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82842" y="3640352"/>
            <a:ext cx="885962" cy="863627"/>
          </a:xfrm>
          <a:custGeom>
            <a:avLst/>
            <a:gdLst/>
            <a:ahLst/>
            <a:cxnLst/>
            <a:rect l="l" t="t" r="r" b="b"/>
            <a:pathLst>
              <a:path w="885962" h="863627">
                <a:moveTo>
                  <a:pt x="0" y="0"/>
                </a:moveTo>
                <a:lnTo>
                  <a:pt x="885962" y="0"/>
                </a:lnTo>
                <a:lnTo>
                  <a:pt x="88596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957866" y="3421712"/>
            <a:ext cx="875024" cy="1082267"/>
          </a:xfrm>
          <a:custGeom>
            <a:avLst/>
            <a:gdLst/>
            <a:ahLst/>
            <a:cxnLst/>
            <a:rect l="l" t="t" r="r" b="b"/>
            <a:pathLst>
              <a:path w="875024" h="1082267">
                <a:moveTo>
                  <a:pt x="0" y="0"/>
                </a:moveTo>
                <a:lnTo>
                  <a:pt x="875024" y="0"/>
                </a:lnTo>
                <a:lnTo>
                  <a:pt x="87502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303997" y="4770279"/>
            <a:ext cx="1287671" cy="348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4"/>
              </a:lnSpc>
            </a:pPr>
            <a:r>
              <a:rPr lang="en-US" sz="2236" b="1" spc="-44">
                <a:solidFill>
                  <a:srgbClr val="121212"/>
                </a:solidFill>
                <a:latin typeface="Roboto Bold"/>
                <a:ea typeface="Roboto Bold"/>
                <a:cs typeface="Roboto Bold"/>
                <a:sym typeface="Roboto Bold"/>
              </a:rPr>
              <a:t>User Input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0828" y="5204009"/>
            <a:ext cx="2116336" cy="687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sz="2321" spc="-46">
                <a:solidFill>
                  <a:srgbClr val="2B2B2B"/>
                </a:solidFill>
                <a:latin typeface="Roboto"/>
                <a:ea typeface="Roboto"/>
                <a:cs typeface="Roboto"/>
                <a:sym typeface="Roboto"/>
              </a:rPr>
              <a:t>Camera /</a:t>
            </a:r>
          </a:p>
          <a:p>
            <a:pPr algn="ctr">
              <a:lnSpc>
                <a:spcPts val="2786"/>
              </a:lnSpc>
            </a:pPr>
            <a:r>
              <a:rPr lang="en-US" sz="2321" spc="-46">
                <a:solidFill>
                  <a:srgbClr val="2B2B2B"/>
                </a:solidFill>
                <a:latin typeface="Roboto"/>
                <a:ea typeface="Roboto"/>
                <a:cs typeface="Roboto"/>
                <a:sym typeface="Roboto"/>
              </a:rPr>
              <a:t>Microphone</a:t>
            </a:r>
          </a:p>
        </p:txBody>
      </p:sp>
      <p:sp>
        <p:nvSpPr>
          <p:cNvPr id="10" name="Freeform 10"/>
          <p:cNvSpPr/>
          <p:nvPr/>
        </p:nvSpPr>
        <p:spPr>
          <a:xfrm>
            <a:off x="3040708" y="4066699"/>
            <a:ext cx="667206" cy="437279"/>
          </a:xfrm>
          <a:custGeom>
            <a:avLst/>
            <a:gdLst/>
            <a:ahLst/>
            <a:cxnLst/>
            <a:rect l="l" t="t" r="r" b="b"/>
            <a:pathLst>
              <a:path w="667206" h="437279">
                <a:moveTo>
                  <a:pt x="0" y="0"/>
                </a:moveTo>
                <a:lnTo>
                  <a:pt x="667206" y="0"/>
                </a:lnTo>
                <a:lnTo>
                  <a:pt x="667206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696976" y="2995365"/>
            <a:ext cx="2406316" cy="3443576"/>
          </a:xfrm>
          <a:custGeom>
            <a:avLst/>
            <a:gdLst/>
            <a:ahLst/>
            <a:cxnLst/>
            <a:rect l="l" t="t" r="r" b="b"/>
            <a:pathLst>
              <a:path w="2406316" h="3443576">
                <a:moveTo>
                  <a:pt x="0" y="0"/>
                </a:moveTo>
                <a:lnTo>
                  <a:pt x="2406316" y="0"/>
                </a:lnTo>
                <a:lnTo>
                  <a:pt x="2406316" y="3443575"/>
                </a:lnTo>
                <a:lnTo>
                  <a:pt x="0" y="34435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134488" y="3421712"/>
            <a:ext cx="1312536" cy="1082267"/>
          </a:xfrm>
          <a:custGeom>
            <a:avLst/>
            <a:gdLst/>
            <a:ahLst/>
            <a:cxnLst/>
            <a:rect l="l" t="t" r="r" b="b"/>
            <a:pathLst>
              <a:path w="1312536" h="1082267">
                <a:moveTo>
                  <a:pt x="0" y="0"/>
                </a:moveTo>
                <a:lnTo>
                  <a:pt x="1312536" y="0"/>
                </a:lnTo>
                <a:lnTo>
                  <a:pt x="131253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3971079" y="4770279"/>
            <a:ext cx="1739945" cy="348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4"/>
              </a:lnSpc>
            </a:pPr>
            <a:r>
              <a:rPr lang="en-US" sz="2236" b="1" spc="-44">
                <a:solidFill>
                  <a:srgbClr val="121212"/>
                </a:solidFill>
                <a:latin typeface="Roboto Bold"/>
                <a:ea typeface="Roboto Bold"/>
                <a:cs typeface="Roboto Bold"/>
                <a:sym typeface="Roboto Bold"/>
              </a:rPr>
              <a:t>AI Processing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804047" y="5204009"/>
            <a:ext cx="2116336" cy="687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sz="2321" spc="-46">
                <a:solidFill>
                  <a:srgbClr val="2B2B2B"/>
                </a:solidFill>
                <a:latin typeface="Roboto"/>
                <a:ea typeface="Roboto"/>
                <a:cs typeface="Roboto"/>
                <a:sym typeface="Roboto"/>
              </a:rPr>
              <a:t>Command</a:t>
            </a:r>
          </a:p>
          <a:p>
            <a:pPr algn="ctr">
              <a:lnSpc>
                <a:spcPts val="2786"/>
              </a:lnSpc>
            </a:pPr>
            <a:r>
              <a:rPr lang="en-US" sz="2321" spc="-46">
                <a:solidFill>
                  <a:srgbClr val="2B2B2B"/>
                </a:solidFill>
                <a:latin typeface="Roboto"/>
                <a:ea typeface="Roboto"/>
                <a:cs typeface="Roboto"/>
                <a:sym typeface="Roboto"/>
              </a:rPr>
              <a:t>Generation</a:t>
            </a:r>
          </a:p>
        </p:txBody>
      </p:sp>
      <p:sp>
        <p:nvSpPr>
          <p:cNvPr id="15" name="Freeform 15"/>
          <p:cNvSpPr/>
          <p:nvPr/>
        </p:nvSpPr>
        <p:spPr>
          <a:xfrm>
            <a:off x="5873598" y="4066699"/>
            <a:ext cx="885962" cy="437279"/>
          </a:xfrm>
          <a:custGeom>
            <a:avLst/>
            <a:gdLst/>
            <a:ahLst/>
            <a:cxnLst/>
            <a:rect l="l" t="t" r="r" b="b"/>
            <a:pathLst>
              <a:path w="885962" h="437279">
                <a:moveTo>
                  <a:pt x="0" y="0"/>
                </a:moveTo>
                <a:lnTo>
                  <a:pt x="885962" y="0"/>
                </a:lnTo>
                <a:lnTo>
                  <a:pt x="88596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6529866" y="2995365"/>
            <a:ext cx="2406316" cy="3443576"/>
          </a:xfrm>
          <a:custGeom>
            <a:avLst/>
            <a:gdLst/>
            <a:ahLst/>
            <a:cxnLst/>
            <a:rect l="l" t="t" r="r" b="b"/>
            <a:pathLst>
              <a:path w="2406316" h="3443576">
                <a:moveTo>
                  <a:pt x="0" y="0"/>
                </a:moveTo>
                <a:lnTo>
                  <a:pt x="2406316" y="0"/>
                </a:lnTo>
                <a:lnTo>
                  <a:pt x="2406316" y="3443575"/>
                </a:lnTo>
                <a:lnTo>
                  <a:pt x="0" y="34435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393952" y="3421712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7125339" y="4770280"/>
            <a:ext cx="1217862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2"/>
              </a:lnSpc>
            </a:pPr>
            <a:r>
              <a:rPr lang="en-US" sz="2285" b="1" spc="-45">
                <a:solidFill>
                  <a:srgbClr val="121212"/>
                </a:solidFill>
                <a:latin typeface="Roboto Bold"/>
                <a:ea typeface="Roboto Bold"/>
                <a:cs typeface="Roboto Bold"/>
                <a:sym typeface="Roboto Bold"/>
              </a:rPr>
              <a:t>Bluetooth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697266" y="5204009"/>
            <a:ext cx="2116336" cy="687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sz="2321" spc="-46">
                <a:solidFill>
                  <a:srgbClr val="2B2B2B"/>
                </a:solidFill>
                <a:latin typeface="Roboto"/>
                <a:ea typeface="Roboto"/>
                <a:cs typeface="Roboto"/>
                <a:sym typeface="Roboto"/>
              </a:rPr>
              <a:t>Wireless</a:t>
            </a:r>
          </a:p>
          <a:p>
            <a:pPr algn="ctr">
              <a:lnSpc>
                <a:spcPts val="2786"/>
              </a:lnSpc>
            </a:pPr>
            <a:r>
              <a:rPr lang="en-US" sz="2321" spc="-46">
                <a:solidFill>
                  <a:srgbClr val="2B2B2B"/>
                </a:solidFill>
                <a:latin typeface="Roboto"/>
                <a:ea typeface="Roboto"/>
                <a:cs typeface="Roboto"/>
                <a:sym typeface="Roboto"/>
              </a:rPr>
              <a:t>Transmission</a:t>
            </a:r>
          </a:p>
        </p:txBody>
      </p:sp>
      <p:sp>
        <p:nvSpPr>
          <p:cNvPr id="20" name="Freeform 20"/>
          <p:cNvSpPr/>
          <p:nvPr/>
        </p:nvSpPr>
        <p:spPr>
          <a:xfrm>
            <a:off x="8706488" y="4066699"/>
            <a:ext cx="875024" cy="437279"/>
          </a:xfrm>
          <a:custGeom>
            <a:avLst/>
            <a:gdLst/>
            <a:ahLst/>
            <a:cxnLst/>
            <a:rect l="l" t="t" r="r" b="b"/>
            <a:pathLst>
              <a:path w="875024" h="437279">
                <a:moveTo>
                  <a:pt x="0" y="0"/>
                </a:moveTo>
                <a:lnTo>
                  <a:pt x="875024" y="0"/>
                </a:lnTo>
                <a:lnTo>
                  <a:pt x="87502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9351818" y="2995365"/>
            <a:ext cx="2625072" cy="3443576"/>
          </a:xfrm>
          <a:custGeom>
            <a:avLst/>
            <a:gdLst/>
            <a:ahLst/>
            <a:cxnLst/>
            <a:rect l="l" t="t" r="r" b="b"/>
            <a:pathLst>
              <a:path w="2625072" h="3443576">
                <a:moveTo>
                  <a:pt x="0" y="0"/>
                </a:moveTo>
                <a:lnTo>
                  <a:pt x="2625072" y="0"/>
                </a:lnTo>
                <a:lnTo>
                  <a:pt x="2625072" y="3443575"/>
                </a:lnTo>
                <a:lnTo>
                  <a:pt x="0" y="34435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0008086" y="3421712"/>
            <a:ext cx="1323474" cy="1082267"/>
          </a:xfrm>
          <a:custGeom>
            <a:avLst/>
            <a:gdLst/>
            <a:ahLst/>
            <a:cxnLst/>
            <a:rect l="l" t="t" r="r" b="b"/>
            <a:pathLst>
              <a:path w="1323474" h="1082267">
                <a:moveTo>
                  <a:pt x="0" y="0"/>
                </a:moveTo>
                <a:lnTo>
                  <a:pt x="1323474" y="0"/>
                </a:lnTo>
                <a:lnTo>
                  <a:pt x="132347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0191012" y="4770279"/>
            <a:ext cx="819375" cy="348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4"/>
              </a:lnSpc>
            </a:pPr>
            <a:r>
              <a:rPr lang="en-US" sz="2236" b="1" spc="-44">
                <a:solidFill>
                  <a:srgbClr val="121212"/>
                </a:solidFill>
                <a:latin typeface="Roboto Bold"/>
                <a:ea typeface="Roboto Bold"/>
                <a:cs typeface="Roboto Bold"/>
                <a:sym typeface="Roboto Bold"/>
              </a:rPr>
              <a:t>ESP32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563695" y="5209307"/>
            <a:ext cx="2223492" cy="330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6"/>
              </a:lnSpc>
            </a:pPr>
            <a:r>
              <a:rPr lang="en-US" sz="2188" spc="-43">
                <a:solidFill>
                  <a:srgbClr val="2B2B2B"/>
                </a:solidFill>
                <a:latin typeface="Roboto"/>
                <a:ea typeface="Roboto"/>
                <a:cs typeface="Roboto"/>
                <a:sym typeface="Roboto"/>
              </a:rPr>
              <a:t>Microcontroller</a:t>
            </a:r>
          </a:p>
        </p:txBody>
      </p:sp>
      <p:sp>
        <p:nvSpPr>
          <p:cNvPr id="25" name="Freeform 25"/>
          <p:cNvSpPr/>
          <p:nvPr/>
        </p:nvSpPr>
        <p:spPr>
          <a:xfrm>
            <a:off x="11747196" y="4066699"/>
            <a:ext cx="885962" cy="437279"/>
          </a:xfrm>
          <a:custGeom>
            <a:avLst/>
            <a:gdLst/>
            <a:ahLst/>
            <a:cxnLst/>
            <a:rect l="l" t="t" r="r" b="b"/>
            <a:pathLst>
              <a:path w="885962" h="437279">
                <a:moveTo>
                  <a:pt x="0" y="0"/>
                </a:moveTo>
                <a:lnTo>
                  <a:pt x="885962" y="0"/>
                </a:lnTo>
                <a:lnTo>
                  <a:pt x="88596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2403464" y="2995365"/>
            <a:ext cx="2406316" cy="3443576"/>
          </a:xfrm>
          <a:custGeom>
            <a:avLst/>
            <a:gdLst/>
            <a:ahLst/>
            <a:cxnLst/>
            <a:rect l="l" t="t" r="r" b="b"/>
            <a:pathLst>
              <a:path w="2406316" h="3443576">
                <a:moveTo>
                  <a:pt x="0" y="0"/>
                </a:moveTo>
                <a:lnTo>
                  <a:pt x="2406316" y="0"/>
                </a:lnTo>
                <a:lnTo>
                  <a:pt x="2406316" y="3443575"/>
                </a:lnTo>
                <a:lnTo>
                  <a:pt x="0" y="344357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2840976" y="3421712"/>
            <a:ext cx="1312536" cy="1082267"/>
          </a:xfrm>
          <a:custGeom>
            <a:avLst/>
            <a:gdLst/>
            <a:ahLst/>
            <a:cxnLst/>
            <a:rect l="l" t="t" r="r" b="b"/>
            <a:pathLst>
              <a:path w="1312536" h="1082267">
                <a:moveTo>
                  <a:pt x="0" y="0"/>
                </a:moveTo>
                <a:lnTo>
                  <a:pt x="1312536" y="0"/>
                </a:lnTo>
                <a:lnTo>
                  <a:pt x="131253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3179964" y="4779203"/>
            <a:ext cx="788643" cy="330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8"/>
              </a:lnSpc>
            </a:pPr>
            <a:r>
              <a:rPr lang="en-US" sz="2140" b="1" spc="-42">
                <a:solidFill>
                  <a:srgbClr val="121212"/>
                </a:solidFill>
                <a:latin typeface="Roboto Bold"/>
                <a:ea typeface="Roboto Bold"/>
                <a:cs typeface="Roboto Bold"/>
                <a:sym typeface="Roboto Bold"/>
              </a:rPr>
              <a:t>L298N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537281" y="5209307"/>
            <a:ext cx="2116336" cy="330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6"/>
              </a:lnSpc>
            </a:pPr>
            <a:r>
              <a:rPr lang="en-US" sz="2188" spc="-43">
                <a:solidFill>
                  <a:srgbClr val="2B2B2B"/>
                </a:solidFill>
                <a:latin typeface="Roboto"/>
                <a:ea typeface="Roboto"/>
                <a:cs typeface="Roboto"/>
                <a:sym typeface="Roboto"/>
              </a:rPr>
              <a:t>Motor Driver</a:t>
            </a:r>
          </a:p>
        </p:txBody>
      </p:sp>
      <p:sp>
        <p:nvSpPr>
          <p:cNvPr id="30" name="Freeform 30"/>
          <p:cNvSpPr/>
          <p:nvPr/>
        </p:nvSpPr>
        <p:spPr>
          <a:xfrm>
            <a:off x="14580086" y="4066699"/>
            <a:ext cx="885962" cy="437279"/>
          </a:xfrm>
          <a:custGeom>
            <a:avLst/>
            <a:gdLst/>
            <a:ahLst/>
            <a:cxnLst/>
            <a:rect l="l" t="t" r="r" b="b"/>
            <a:pathLst>
              <a:path w="885962" h="437279">
                <a:moveTo>
                  <a:pt x="0" y="0"/>
                </a:moveTo>
                <a:lnTo>
                  <a:pt x="885962" y="0"/>
                </a:lnTo>
                <a:lnTo>
                  <a:pt x="88596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5236354" y="2995365"/>
            <a:ext cx="2406316" cy="3443576"/>
          </a:xfrm>
          <a:custGeom>
            <a:avLst/>
            <a:gdLst/>
            <a:ahLst/>
            <a:cxnLst/>
            <a:rect l="l" t="t" r="r" b="b"/>
            <a:pathLst>
              <a:path w="2406316" h="3443576">
                <a:moveTo>
                  <a:pt x="0" y="0"/>
                </a:moveTo>
                <a:lnTo>
                  <a:pt x="2406316" y="0"/>
                </a:lnTo>
                <a:lnTo>
                  <a:pt x="2406316" y="3443575"/>
                </a:lnTo>
                <a:lnTo>
                  <a:pt x="0" y="34435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5892622" y="3421712"/>
            <a:ext cx="1093780" cy="1082267"/>
          </a:xfrm>
          <a:custGeom>
            <a:avLst/>
            <a:gdLst/>
            <a:ahLst/>
            <a:cxnLst/>
            <a:rect l="l" t="t" r="r" b="b"/>
            <a:pathLst>
              <a:path w="1093780" h="1082267">
                <a:moveTo>
                  <a:pt x="0" y="0"/>
                </a:moveTo>
                <a:lnTo>
                  <a:pt x="1093780" y="0"/>
                </a:lnTo>
                <a:lnTo>
                  <a:pt x="109378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16031097" y="4779204"/>
            <a:ext cx="872815" cy="330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6"/>
              </a:lnSpc>
            </a:pPr>
            <a:r>
              <a:rPr lang="en-US" sz="2188" b="1" spc="-43">
                <a:solidFill>
                  <a:srgbClr val="121212"/>
                </a:solidFill>
                <a:latin typeface="Roboto Bold"/>
                <a:ea typeface="Roboto Bold"/>
                <a:cs typeface="Roboto Bold"/>
                <a:sym typeface="Roboto Bold"/>
              </a:rPr>
              <a:t>Motors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5430500" y="5204009"/>
            <a:ext cx="2116336" cy="687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sz="2321" spc="-46">
                <a:solidFill>
                  <a:srgbClr val="2B2B2B"/>
                </a:solidFill>
                <a:latin typeface="Roboto"/>
                <a:ea typeface="Roboto"/>
                <a:cs typeface="Roboto"/>
                <a:sym typeface="Roboto"/>
              </a:rPr>
              <a:t>Wheel</a:t>
            </a:r>
          </a:p>
          <a:p>
            <a:pPr algn="ctr">
              <a:lnSpc>
                <a:spcPts val="2786"/>
              </a:lnSpc>
            </a:pPr>
            <a:r>
              <a:rPr lang="en-US" sz="2321" spc="-46">
                <a:solidFill>
                  <a:srgbClr val="2B2B2B"/>
                </a:solidFill>
                <a:latin typeface="Roboto"/>
                <a:ea typeface="Roboto"/>
                <a:cs typeface="Roboto"/>
                <a:sym typeface="Roboto"/>
              </a:rPr>
              <a:t>Movement</a:t>
            </a:r>
          </a:p>
        </p:txBody>
      </p:sp>
      <p:sp>
        <p:nvSpPr>
          <p:cNvPr id="35" name="Freeform 35"/>
          <p:cNvSpPr/>
          <p:nvPr/>
        </p:nvSpPr>
        <p:spPr>
          <a:xfrm>
            <a:off x="4572000" y="6209369"/>
            <a:ext cx="3270402" cy="1727254"/>
          </a:xfrm>
          <a:custGeom>
            <a:avLst/>
            <a:gdLst/>
            <a:ahLst/>
            <a:cxnLst/>
            <a:rect l="l" t="t" r="r" b="b"/>
            <a:pathLst>
              <a:path w="3270402" h="1727254">
                <a:moveTo>
                  <a:pt x="0" y="0"/>
                </a:moveTo>
                <a:lnTo>
                  <a:pt x="3270402" y="0"/>
                </a:lnTo>
                <a:lnTo>
                  <a:pt x="327040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7612708" y="6635716"/>
            <a:ext cx="2625072" cy="3017228"/>
          </a:xfrm>
          <a:custGeom>
            <a:avLst/>
            <a:gdLst/>
            <a:ahLst/>
            <a:cxnLst/>
            <a:rect l="l" t="t" r="r" b="b"/>
            <a:pathLst>
              <a:path w="2625072" h="3017228">
                <a:moveTo>
                  <a:pt x="0" y="0"/>
                </a:moveTo>
                <a:lnTo>
                  <a:pt x="2625072" y="0"/>
                </a:lnTo>
                <a:lnTo>
                  <a:pt x="2625072" y="3017229"/>
                </a:lnTo>
                <a:lnTo>
                  <a:pt x="0" y="301722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8268976" y="6854356"/>
            <a:ext cx="1093780" cy="1289974"/>
          </a:xfrm>
          <a:custGeom>
            <a:avLst/>
            <a:gdLst/>
            <a:ahLst/>
            <a:cxnLst/>
            <a:rect l="l" t="t" r="r" b="b"/>
            <a:pathLst>
              <a:path w="1093780" h="1289974">
                <a:moveTo>
                  <a:pt x="0" y="0"/>
                </a:moveTo>
                <a:lnTo>
                  <a:pt x="1093780" y="0"/>
                </a:lnTo>
                <a:lnTo>
                  <a:pt x="109378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38" name="TextBox 38"/>
          <p:cNvSpPr txBox="1"/>
          <p:nvPr/>
        </p:nvSpPr>
        <p:spPr>
          <a:xfrm>
            <a:off x="8273856" y="8206938"/>
            <a:ext cx="1171109" cy="31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0"/>
              </a:lnSpc>
            </a:pPr>
            <a:r>
              <a:rPr lang="en-US" sz="2091" b="1" spc="-41">
                <a:solidFill>
                  <a:srgbClr val="121212"/>
                </a:solidFill>
                <a:latin typeface="Roboto Bold"/>
                <a:ea typeface="Roboto Bold"/>
                <a:cs typeface="Roboto Bold"/>
                <a:sym typeface="Roboto Bold"/>
              </a:rPr>
              <a:t>MPU6050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822406" y="8622820"/>
            <a:ext cx="2116336" cy="687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sz="2321" spc="-46">
                <a:solidFill>
                  <a:srgbClr val="2B2B2B"/>
                </a:solidFill>
                <a:latin typeface="Roboto"/>
                <a:ea typeface="Roboto"/>
                <a:cs typeface="Roboto"/>
                <a:sym typeface="Roboto"/>
              </a:rPr>
              <a:t>Turning</a:t>
            </a:r>
          </a:p>
          <a:p>
            <a:pPr algn="ctr">
              <a:lnSpc>
                <a:spcPts val="2786"/>
              </a:lnSpc>
            </a:pPr>
            <a:r>
              <a:rPr lang="en-US" sz="2321" spc="-46">
                <a:solidFill>
                  <a:srgbClr val="2B2B2B"/>
                </a:solidFill>
                <a:latin typeface="Roboto"/>
                <a:ea typeface="Roboto"/>
                <a:cs typeface="Roboto"/>
                <a:sym typeface="Roboto"/>
              </a:rPr>
              <a:t>Feedback</a:t>
            </a:r>
          </a:p>
        </p:txBody>
      </p:sp>
      <p:sp>
        <p:nvSpPr>
          <p:cNvPr id="40" name="Freeform 40"/>
          <p:cNvSpPr/>
          <p:nvPr/>
        </p:nvSpPr>
        <p:spPr>
          <a:xfrm>
            <a:off x="10008086" y="6209369"/>
            <a:ext cx="3707914" cy="1727254"/>
          </a:xfrm>
          <a:custGeom>
            <a:avLst/>
            <a:gdLst/>
            <a:ahLst/>
            <a:cxnLst/>
            <a:rect l="l" t="t" r="r" b="b"/>
            <a:pathLst>
              <a:path w="3707914" h="1727254">
                <a:moveTo>
                  <a:pt x="0" y="0"/>
                </a:moveTo>
                <a:lnTo>
                  <a:pt x="3707914" y="0"/>
                </a:lnTo>
                <a:lnTo>
                  <a:pt x="3707914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74353" y="670596"/>
            <a:ext cx="7574062" cy="2253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20"/>
              </a:lnSpc>
            </a:pPr>
            <a:r>
              <a:rPr lang="en-US" sz="8240" b="1">
                <a:solidFill>
                  <a:srgbClr val="093264"/>
                </a:solidFill>
                <a:latin typeface="Roboto Bold"/>
                <a:ea typeface="Roboto Bold"/>
                <a:cs typeface="Roboto Bold"/>
                <a:sym typeface="Roboto Bold"/>
              </a:rPr>
              <a:t>Motor &amp;</a:t>
            </a:r>
          </a:p>
          <a:p>
            <a:pPr algn="l">
              <a:lnSpc>
                <a:spcPts val="8820"/>
              </a:lnSpc>
            </a:pPr>
            <a:r>
              <a:rPr lang="en-US" sz="8240" b="1">
                <a:solidFill>
                  <a:srgbClr val="093264"/>
                </a:solidFill>
                <a:latin typeface="Roboto Bold"/>
                <a:ea typeface="Roboto Bold"/>
                <a:cs typeface="Roboto Bold"/>
                <a:sym typeface="Roboto Bold"/>
              </a:rPr>
              <a:t>Turning Control</a:t>
            </a:r>
          </a:p>
        </p:txBody>
      </p:sp>
      <p:sp>
        <p:nvSpPr>
          <p:cNvPr id="4" name="Freeform 4"/>
          <p:cNvSpPr/>
          <p:nvPr/>
        </p:nvSpPr>
        <p:spPr>
          <a:xfrm>
            <a:off x="645330" y="2995365"/>
            <a:ext cx="1542230" cy="437279"/>
          </a:xfrm>
          <a:custGeom>
            <a:avLst/>
            <a:gdLst/>
            <a:ahLst/>
            <a:cxnLst/>
            <a:rect l="l" t="t" r="r" b="b"/>
            <a:pathLst>
              <a:path w="1542230" h="437279">
                <a:moveTo>
                  <a:pt x="0" y="0"/>
                </a:moveTo>
                <a:lnTo>
                  <a:pt x="1542230" y="0"/>
                </a:lnTo>
                <a:lnTo>
                  <a:pt x="154223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45330" y="3640352"/>
            <a:ext cx="448450" cy="1289974"/>
          </a:xfrm>
          <a:custGeom>
            <a:avLst/>
            <a:gdLst/>
            <a:ahLst/>
            <a:cxnLst/>
            <a:rect l="l" t="t" r="r" b="b"/>
            <a:pathLst>
              <a:path w="448450" h="1289974">
                <a:moveTo>
                  <a:pt x="0" y="0"/>
                </a:moveTo>
                <a:lnTo>
                  <a:pt x="448450" y="0"/>
                </a:lnTo>
                <a:lnTo>
                  <a:pt x="44845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64086" y="3640352"/>
            <a:ext cx="7634584" cy="1289974"/>
          </a:xfrm>
          <a:custGeom>
            <a:avLst/>
            <a:gdLst/>
            <a:ahLst/>
            <a:cxnLst/>
            <a:rect l="l" t="t" r="r" b="b"/>
            <a:pathLst>
              <a:path w="7634584" h="1289974">
                <a:moveTo>
                  <a:pt x="0" y="0"/>
                </a:moveTo>
                <a:lnTo>
                  <a:pt x="7634584" y="0"/>
                </a:lnTo>
                <a:lnTo>
                  <a:pt x="763458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305415" y="4188529"/>
            <a:ext cx="6082748" cy="372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707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rPr>
              <a:t>ESP32 controls two DC geared motors</a:t>
            </a:r>
          </a:p>
        </p:txBody>
      </p:sp>
      <p:sp>
        <p:nvSpPr>
          <p:cNvPr id="8" name="Freeform 8"/>
          <p:cNvSpPr/>
          <p:nvPr/>
        </p:nvSpPr>
        <p:spPr>
          <a:xfrm>
            <a:off x="645330" y="4919394"/>
            <a:ext cx="448450" cy="1082267"/>
          </a:xfrm>
          <a:custGeom>
            <a:avLst/>
            <a:gdLst/>
            <a:ahLst/>
            <a:cxnLst/>
            <a:rect l="l" t="t" r="r" b="b"/>
            <a:pathLst>
              <a:path w="448450" h="1082267">
                <a:moveTo>
                  <a:pt x="0" y="0"/>
                </a:moveTo>
                <a:lnTo>
                  <a:pt x="448450" y="0"/>
                </a:lnTo>
                <a:lnTo>
                  <a:pt x="44845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64086" y="4919394"/>
            <a:ext cx="7634584" cy="1082267"/>
          </a:xfrm>
          <a:custGeom>
            <a:avLst/>
            <a:gdLst/>
            <a:ahLst/>
            <a:cxnLst/>
            <a:rect l="l" t="t" r="r" b="b"/>
            <a:pathLst>
              <a:path w="7634584" h="1082267">
                <a:moveTo>
                  <a:pt x="0" y="0"/>
                </a:moveTo>
                <a:lnTo>
                  <a:pt x="7634584" y="0"/>
                </a:lnTo>
                <a:lnTo>
                  <a:pt x="763458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327062" y="5333153"/>
            <a:ext cx="3918058" cy="372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707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rPr>
              <a:t>L298N drives the motors</a:t>
            </a:r>
          </a:p>
        </p:txBody>
      </p:sp>
      <p:sp>
        <p:nvSpPr>
          <p:cNvPr id="11" name="Freeform 11"/>
          <p:cNvSpPr/>
          <p:nvPr/>
        </p:nvSpPr>
        <p:spPr>
          <a:xfrm>
            <a:off x="645330" y="5990729"/>
            <a:ext cx="448450" cy="1300906"/>
          </a:xfrm>
          <a:custGeom>
            <a:avLst/>
            <a:gdLst/>
            <a:ahLst/>
            <a:cxnLst/>
            <a:rect l="l" t="t" r="r" b="b"/>
            <a:pathLst>
              <a:path w="448450" h="1300906">
                <a:moveTo>
                  <a:pt x="0" y="0"/>
                </a:moveTo>
                <a:lnTo>
                  <a:pt x="448450" y="0"/>
                </a:lnTo>
                <a:lnTo>
                  <a:pt x="44845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64086" y="5990729"/>
            <a:ext cx="7634584" cy="1300906"/>
          </a:xfrm>
          <a:custGeom>
            <a:avLst/>
            <a:gdLst/>
            <a:ahLst/>
            <a:cxnLst/>
            <a:rect l="l" t="t" r="r" b="b"/>
            <a:pathLst>
              <a:path w="7634584" h="1300906">
                <a:moveTo>
                  <a:pt x="0" y="0"/>
                </a:moveTo>
                <a:lnTo>
                  <a:pt x="7634584" y="0"/>
                </a:lnTo>
                <a:lnTo>
                  <a:pt x="763458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315335" y="6492838"/>
            <a:ext cx="5090751" cy="372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707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rPr>
              <a:t>Differential drive produces turns</a:t>
            </a:r>
          </a:p>
        </p:txBody>
      </p:sp>
      <p:sp>
        <p:nvSpPr>
          <p:cNvPr id="14" name="Freeform 14"/>
          <p:cNvSpPr/>
          <p:nvPr/>
        </p:nvSpPr>
        <p:spPr>
          <a:xfrm>
            <a:off x="645330" y="7280704"/>
            <a:ext cx="448450" cy="1082267"/>
          </a:xfrm>
          <a:custGeom>
            <a:avLst/>
            <a:gdLst/>
            <a:ahLst/>
            <a:cxnLst/>
            <a:rect l="l" t="t" r="r" b="b"/>
            <a:pathLst>
              <a:path w="448450" h="1082267">
                <a:moveTo>
                  <a:pt x="0" y="0"/>
                </a:moveTo>
                <a:lnTo>
                  <a:pt x="448450" y="0"/>
                </a:lnTo>
                <a:lnTo>
                  <a:pt x="44845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864086" y="7280704"/>
            <a:ext cx="7634584" cy="1082267"/>
          </a:xfrm>
          <a:custGeom>
            <a:avLst/>
            <a:gdLst/>
            <a:ahLst/>
            <a:cxnLst/>
            <a:rect l="l" t="t" r="r" b="b"/>
            <a:pathLst>
              <a:path w="7634584" h="1082267">
                <a:moveTo>
                  <a:pt x="0" y="0"/>
                </a:moveTo>
                <a:lnTo>
                  <a:pt x="7634584" y="0"/>
                </a:lnTo>
                <a:lnTo>
                  <a:pt x="763458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310160" y="7637461"/>
            <a:ext cx="5608224" cy="372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707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rPr>
              <a:t>MPU6050 measures Z-axis rotation</a:t>
            </a:r>
          </a:p>
        </p:txBody>
      </p:sp>
      <p:sp>
        <p:nvSpPr>
          <p:cNvPr id="17" name="Freeform 17"/>
          <p:cNvSpPr/>
          <p:nvPr/>
        </p:nvSpPr>
        <p:spPr>
          <a:xfrm>
            <a:off x="645330" y="8352038"/>
            <a:ext cx="448450" cy="1300906"/>
          </a:xfrm>
          <a:custGeom>
            <a:avLst/>
            <a:gdLst/>
            <a:ahLst/>
            <a:cxnLst/>
            <a:rect l="l" t="t" r="r" b="b"/>
            <a:pathLst>
              <a:path w="448450" h="1300906">
                <a:moveTo>
                  <a:pt x="0" y="0"/>
                </a:moveTo>
                <a:lnTo>
                  <a:pt x="448450" y="0"/>
                </a:lnTo>
                <a:lnTo>
                  <a:pt x="448450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864086" y="8352038"/>
            <a:ext cx="7634584" cy="1300906"/>
          </a:xfrm>
          <a:custGeom>
            <a:avLst/>
            <a:gdLst/>
            <a:ahLst/>
            <a:cxnLst/>
            <a:rect l="l" t="t" r="r" b="b"/>
            <a:pathLst>
              <a:path w="7634584" h="1300906">
                <a:moveTo>
                  <a:pt x="0" y="0"/>
                </a:moveTo>
                <a:lnTo>
                  <a:pt x="7634584" y="0"/>
                </a:lnTo>
                <a:lnTo>
                  <a:pt x="7634584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313804" y="8782085"/>
            <a:ext cx="5243863" cy="372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707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rPr>
              <a:t>90° and 180° turns are supported</a:t>
            </a:r>
          </a:p>
        </p:txBody>
      </p:sp>
      <p:sp>
        <p:nvSpPr>
          <p:cNvPr id="20" name="Freeform 20"/>
          <p:cNvSpPr/>
          <p:nvPr/>
        </p:nvSpPr>
        <p:spPr>
          <a:xfrm>
            <a:off x="8925244" y="1924030"/>
            <a:ext cx="8717426" cy="7291635"/>
          </a:xfrm>
          <a:custGeom>
            <a:avLst/>
            <a:gdLst/>
            <a:ahLst/>
            <a:cxnLst/>
            <a:rect l="l" t="t" r="r" b="b"/>
            <a:pathLst>
              <a:path w="8717426" h="7291635">
                <a:moveTo>
                  <a:pt x="0" y="0"/>
                </a:moveTo>
                <a:lnTo>
                  <a:pt x="8717426" y="0"/>
                </a:lnTo>
                <a:lnTo>
                  <a:pt x="8717426" y="7291635"/>
                </a:lnTo>
                <a:lnTo>
                  <a:pt x="0" y="729163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65634" y="892361"/>
            <a:ext cx="5767072" cy="2687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22"/>
              </a:lnSpc>
            </a:pPr>
            <a:r>
              <a:rPr lang="en-US" sz="9569" b="1">
                <a:solidFill>
                  <a:srgbClr val="09376E"/>
                </a:solidFill>
                <a:latin typeface="Roboto Bold"/>
                <a:ea typeface="Roboto Bold"/>
                <a:cs typeface="Roboto Bold"/>
                <a:sym typeface="Roboto Bold"/>
              </a:rPr>
              <a:t>Working &amp; Results</a:t>
            </a:r>
          </a:p>
        </p:txBody>
      </p:sp>
      <p:sp>
        <p:nvSpPr>
          <p:cNvPr id="4" name="Freeform 4"/>
          <p:cNvSpPr/>
          <p:nvPr/>
        </p:nvSpPr>
        <p:spPr>
          <a:xfrm>
            <a:off x="645330" y="3848060"/>
            <a:ext cx="1750048" cy="229572"/>
          </a:xfrm>
          <a:custGeom>
            <a:avLst/>
            <a:gdLst/>
            <a:ahLst/>
            <a:cxnLst/>
            <a:rect l="l" t="t" r="r" b="b"/>
            <a:pathLst>
              <a:path w="1750048" h="229572">
                <a:moveTo>
                  <a:pt x="0" y="0"/>
                </a:moveTo>
                <a:lnTo>
                  <a:pt x="1750048" y="0"/>
                </a:lnTo>
                <a:lnTo>
                  <a:pt x="175004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62639" y="4827737"/>
            <a:ext cx="6066618" cy="402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654" spc="-25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Hand gestures captured and recognized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1725" y="5701266"/>
            <a:ext cx="6158002" cy="402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654" spc="-25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Commands sent wirelessly via Bluetooth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1119" y="6574795"/>
            <a:ext cx="6218528" cy="402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654" spc="-25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ESP32 processes the received command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60790" y="7448324"/>
            <a:ext cx="6251430" cy="402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654" spc="-25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Motors respond to control the wheelchair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58939" y="8321852"/>
            <a:ext cx="6436587" cy="402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654" spc="-25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Prototype movement and turning achieved</a:t>
            </a:r>
          </a:p>
        </p:txBody>
      </p:sp>
      <p:sp>
        <p:nvSpPr>
          <p:cNvPr id="10" name="Freeform 10"/>
          <p:cNvSpPr/>
          <p:nvPr/>
        </p:nvSpPr>
        <p:spPr>
          <a:xfrm>
            <a:off x="8487732" y="634055"/>
            <a:ext cx="2843828" cy="1082267"/>
          </a:xfrm>
          <a:custGeom>
            <a:avLst/>
            <a:gdLst/>
            <a:ahLst/>
            <a:cxnLst/>
            <a:rect l="l" t="t" r="r" b="b"/>
            <a:pathLst>
              <a:path w="2843828" h="1082267">
                <a:moveTo>
                  <a:pt x="0" y="0"/>
                </a:moveTo>
                <a:lnTo>
                  <a:pt x="2843828" y="0"/>
                </a:lnTo>
                <a:lnTo>
                  <a:pt x="284382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9130298" y="881797"/>
            <a:ext cx="1572954" cy="54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6"/>
              </a:lnSpc>
            </a:pPr>
            <a:r>
              <a:rPr lang="en-US" sz="1863" b="1" spc="-18">
                <a:solidFill>
                  <a:srgbClr val="FFFFF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Hand captured</a:t>
            </a:r>
          </a:p>
          <a:p>
            <a:pPr algn="ctr">
              <a:lnSpc>
                <a:spcPts val="2236"/>
              </a:lnSpc>
            </a:pPr>
            <a:r>
              <a:rPr lang="en-US" sz="1863" b="1" spc="-18">
                <a:solidFill>
                  <a:srgbClr val="FFFFF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by camera</a:t>
            </a:r>
          </a:p>
        </p:txBody>
      </p:sp>
      <p:sp>
        <p:nvSpPr>
          <p:cNvPr id="12" name="Freeform 12"/>
          <p:cNvSpPr/>
          <p:nvPr/>
        </p:nvSpPr>
        <p:spPr>
          <a:xfrm>
            <a:off x="9789330" y="1497682"/>
            <a:ext cx="448450" cy="655919"/>
          </a:xfrm>
          <a:custGeom>
            <a:avLst/>
            <a:gdLst/>
            <a:ahLst/>
            <a:cxnLst/>
            <a:rect l="l" t="t" r="r" b="b"/>
            <a:pathLst>
              <a:path w="448450" h="655919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487732" y="1924030"/>
            <a:ext cx="2843828" cy="1300906"/>
          </a:xfrm>
          <a:custGeom>
            <a:avLst/>
            <a:gdLst/>
            <a:ahLst/>
            <a:cxnLst/>
            <a:rect l="l" t="t" r="r" b="b"/>
            <a:pathLst>
              <a:path w="2843828" h="1300906">
                <a:moveTo>
                  <a:pt x="0" y="0"/>
                </a:moveTo>
                <a:lnTo>
                  <a:pt x="2843828" y="0"/>
                </a:lnTo>
                <a:lnTo>
                  <a:pt x="284382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9040032" y="2192091"/>
            <a:ext cx="1753486" cy="812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6"/>
              </a:lnSpc>
            </a:pPr>
            <a:r>
              <a:rPr lang="en-US" sz="1863" b="1" spc="-18">
                <a:solidFill>
                  <a:srgbClr val="FFFFF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Hand landmarks detected with MediaPipe</a:t>
            </a:r>
          </a:p>
        </p:txBody>
      </p:sp>
      <p:sp>
        <p:nvSpPr>
          <p:cNvPr id="15" name="Freeform 15"/>
          <p:cNvSpPr/>
          <p:nvPr/>
        </p:nvSpPr>
        <p:spPr>
          <a:xfrm>
            <a:off x="9789330" y="2995365"/>
            <a:ext cx="448450" cy="655919"/>
          </a:xfrm>
          <a:custGeom>
            <a:avLst/>
            <a:gdLst/>
            <a:ahLst/>
            <a:cxnLst/>
            <a:rect l="l" t="t" r="r" b="b"/>
            <a:pathLst>
              <a:path w="448450" h="655919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8487732" y="3421712"/>
            <a:ext cx="2843828" cy="1300906"/>
          </a:xfrm>
          <a:custGeom>
            <a:avLst/>
            <a:gdLst/>
            <a:ahLst/>
            <a:cxnLst/>
            <a:rect l="l" t="t" r="r" b="b"/>
            <a:pathLst>
              <a:path w="2843828" h="1300906">
                <a:moveTo>
                  <a:pt x="0" y="0"/>
                </a:moveTo>
                <a:lnTo>
                  <a:pt x="2843828" y="0"/>
                </a:lnTo>
                <a:lnTo>
                  <a:pt x="284382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9103550" y="3803601"/>
            <a:ext cx="1626449" cy="54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6"/>
              </a:lnSpc>
            </a:pPr>
            <a:r>
              <a:rPr lang="en-US" sz="1863" b="1" spc="-18">
                <a:solidFill>
                  <a:srgbClr val="FFFFF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Command sent</a:t>
            </a:r>
          </a:p>
          <a:p>
            <a:pPr algn="ctr">
              <a:lnSpc>
                <a:spcPts val="2236"/>
              </a:lnSpc>
            </a:pPr>
            <a:r>
              <a:rPr lang="en-US" sz="1863" b="1" spc="-18">
                <a:solidFill>
                  <a:srgbClr val="FFFFF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via Bluetooth</a:t>
            </a:r>
          </a:p>
        </p:txBody>
      </p:sp>
      <p:sp>
        <p:nvSpPr>
          <p:cNvPr id="18" name="Freeform 18"/>
          <p:cNvSpPr/>
          <p:nvPr/>
        </p:nvSpPr>
        <p:spPr>
          <a:xfrm>
            <a:off x="9789330" y="4493047"/>
            <a:ext cx="448450" cy="655919"/>
          </a:xfrm>
          <a:custGeom>
            <a:avLst/>
            <a:gdLst/>
            <a:ahLst/>
            <a:cxnLst/>
            <a:rect l="l" t="t" r="r" b="b"/>
            <a:pathLst>
              <a:path w="448450" h="655919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8487732" y="4919394"/>
            <a:ext cx="2843828" cy="1082267"/>
          </a:xfrm>
          <a:custGeom>
            <a:avLst/>
            <a:gdLst/>
            <a:ahLst/>
            <a:cxnLst/>
            <a:rect l="l" t="t" r="r" b="b"/>
            <a:pathLst>
              <a:path w="2843828" h="1082267">
                <a:moveTo>
                  <a:pt x="0" y="0"/>
                </a:moveTo>
                <a:lnTo>
                  <a:pt x="2843828" y="0"/>
                </a:lnTo>
                <a:lnTo>
                  <a:pt x="284382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8878834" y="5204259"/>
            <a:ext cx="2075882" cy="54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6"/>
              </a:lnSpc>
            </a:pPr>
            <a:r>
              <a:rPr lang="en-US" sz="1863" b="1" spc="-18">
                <a:solidFill>
                  <a:srgbClr val="FFFFF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Command received by ESP32</a:t>
            </a:r>
          </a:p>
        </p:txBody>
      </p:sp>
      <p:sp>
        <p:nvSpPr>
          <p:cNvPr id="21" name="Freeform 21"/>
          <p:cNvSpPr/>
          <p:nvPr/>
        </p:nvSpPr>
        <p:spPr>
          <a:xfrm>
            <a:off x="9789330" y="5990729"/>
            <a:ext cx="448450" cy="448211"/>
          </a:xfrm>
          <a:custGeom>
            <a:avLst/>
            <a:gdLst/>
            <a:ahLst/>
            <a:cxnLst/>
            <a:rect l="l" t="t" r="r" b="b"/>
            <a:pathLst>
              <a:path w="448450" h="448211">
                <a:moveTo>
                  <a:pt x="0" y="0"/>
                </a:moveTo>
                <a:lnTo>
                  <a:pt x="448450" y="0"/>
                </a:lnTo>
                <a:lnTo>
                  <a:pt x="44845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8487732" y="6428009"/>
            <a:ext cx="2843828" cy="1082267"/>
          </a:xfrm>
          <a:custGeom>
            <a:avLst/>
            <a:gdLst/>
            <a:ahLst/>
            <a:cxnLst/>
            <a:rect l="l" t="t" r="r" b="b"/>
            <a:pathLst>
              <a:path w="2843828" h="1082267">
                <a:moveTo>
                  <a:pt x="0" y="0"/>
                </a:moveTo>
                <a:lnTo>
                  <a:pt x="2843828" y="0"/>
                </a:lnTo>
                <a:lnTo>
                  <a:pt x="284382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9065653" y="6635039"/>
            <a:ext cx="1702244" cy="54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6"/>
              </a:lnSpc>
            </a:pPr>
            <a:r>
              <a:rPr lang="en-US" sz="1863" b="1" spc="-18">
                <a:solidFill>
                  <a:srgbClr val="FFFFF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Motors respond</a:t>
            </a:r>
          </a:p>
          <a:p>
            <a:pPr algn="ctr">
              <a:lnSpc>
                <a:spcPts val="2236"/>
              </a:lnSpc>
            </a:pPr>
            <a:r>
              <a:rPr lang="en-US" sz="1863" b="1" spc="-18">
                <a:solidFill>
                  <a:srgbClr val="FFFFF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to command</a:t>
            </a:r>
          </a:p>
        </p:txBody>
      </p:sp>
      <p:sp>
        <p:nvSpPr>
          <p:cNvPr id="24" name="Freeform 24"/>
          <p:cNvSpPr/>
          <p:nvPr/>
        </p:nvSpPr>
        <p:spPr>
          <a:xfrm>
            <a:off x="9789330" y="7280704"/>
            <a:ext cx="448450" cy="655919"/>
          </a:xfrm>
          <a:custGeom>
            <a:avLst/>
            <a:gdLst/>
            <a:ahLst/>
            <a:cxnLst/>
            <a:rect l="l" t="t" r="r" b="b"/>
            <a:pathLst>
              <a:path w="448450" h="655919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8487732" y="7707051"/>
            <a:ext cx="2843828" cy="1727254"/>
          </a:xfrm>
          <a:custGeom>
            <a:avLst/>
            <a:gdLst/>
            <a:ahLst/>
            <a:cxnLst/>
            <a:rect l="l" t="t" r="r" b="b"/>
            <a:pathLst>
              <a:path w="2843828" h="1727254">
                <a:moveTo>
                  <a:pt x="0" y="0"/>
                </a:moveTo>
                <a:lnTo>
                  <a:pt x="2843828" y="0"/>
                </a:lnTo>
                <a:lnTo>
                  <a:pt x="284382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8818804" y="8171244"/>
            <a:ext cx="2195943" cy="812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1"/>
              </a:lnSpc>
            </a:pPr>
            <a:r>
              <a:rPr lang="en-US" sz="1784" b="1" spc="-17">
                <a:solidFill>
                  <a:srgbClr val="FFFFF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Prototype movement and turning demonstrated</a:t>
            </a:r>
          </a:p>
        </p:txBody>
      </p:sp>
      <p:sp>
        <p:nvSpPr>
          <p:cNvPr id="27" name="Freeform 27"/>
          <p:cNvSpPr/>
          <p:nvPr/>
        </p:nvSpPr>
        <p:spPr>
          <a:xfrm>
            <a:off x="11528440" y="1071335"/>
            <a:ext cx="6759560" cy="8581610"/>
          </a:xfrm>
          <a:custGeom>
            <a:avLst/>
            <a:gdLst/>
            <a:ahLst/>
            <a:cxnLst/>
            <a:rect l="l" t="t" r="r" b="b"/>
            <a:pathLst>
              <a:path w="6759560" h="8581610">
                <a:moveTo>
                  <a:pt x="0" y="0"/>
                </a:moveTo>
                <a:lnTo>
                  <a:pt x="6759560" y="0"/>
                </a:lnTo>
                <a:lnTo>
                  <a:pt x="6759560" y="8581610"/>
                </a:lnTo>
                <a:lnTo>
                  <a:pt x="0" y="858161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850393" y="866126"/>
            <a:ext cx="6043484" cy="2049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11"/>
              </a:lnSpc>
            </a:pPr>
            <a:r>
              <a:rPr lang="en-US" sz="7631" b="1">
                <a:solidFill>
                  <a:srgbClr val="093469"/>
                </a:solidFill>
                <a:latin typeface="Roboto Bold"/>
                <a:ea typeface="Roboto Bold"/>
                <a:cs typeface="Roboto Bold"/>
                <a:sym typeface="Roboto Bold"/>
              </a:rPr>
              <a:t>Gesture &amp; Voice Control</a:t>
            </a:r>
          </a:p>
        </p:txBody>
      </p:sp>
      <p:sp>
        <p:nvSpPr>
          <p:cNvPr id="4" name="Freeform 4"/>
          <p:cNvSpPr/>
          <p:nvPr/>
        </p:nvSpPr>
        <p:spPr>
          <a:xfrm>
            <a:off x="864086" y="2995365"/>
            <a:ext cx="1750048" cy="437279"/>
          </a:xfrm>
          <a:custGeom>
            <a:avLst/>
            <a:gdLst/>
            <a:ahLst/>
            <a:cxnLst/>
            <a:rect l="l" t="t" r="r" b="b"/>
            <a:pathLst>
              <a:path w="1750048" h="437279">
                <a:moveTo>
                  <a:pt x="0" y="0"/>
                </a:moveTo>
                <a:lnTo>
                  <a:pt x="1750048" y="0"/>
                </a:lnTo>
                <a:lnTo>
                  <a:pt x="175004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82842" y="3640352"/>
            <a:ext cx="4582938" cy="6646648"/>
          </a:xfrm>
          <a:custGeom>
            <a:avLst/>
            <a:gdLst/>
            <a:ahLst/>
            <a:cxnLst/>
            <a:rect l="l" t="t" r="r" b="b"/>
            <a:pathLst>
              <a:path w="4582938" h="6646648">
                <a:moveTo>
                  <a:pt x="0" y="0"/>
                </a:moveTo>
                <a:lnTo>
                  <a:pt x="4582938" y="0"/>
                </a:lnTo>
                <a:lnTo>
                  <a:pt x="4582938" y="6646648"/>
                </a:lnTo>
                <a:lnTo>
                  <a:pt x="0" y="66466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748622" y="1497682"/>
            <a:ext cx="1312536" cy="7083928"/>
          </a:xfrm>
          <a:custGeom>
            <a:avLst/>
            <a:gdLst/>
            <a:ahLst/>
            <a:cxnLst/>
            <a:rect l="l" t="t" r="r" b="b"/>
            <a:pathLst>
              <a:path w="1312536" h="7083928">
                <a:moveTo>
                  <a:pt x="0" y="0"/>
                </a:moveTo>
                <a:lnTo>
                  <a:pt x="1312536" y="0"/>
                </a:lnTo>
                <a:lnTo>
                  <a:pt x="1312536" y="7083928"/>
                </a:lnTo>
                <a:lnTo>
                  <a:pt x="0" y="70839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487732" y="1071335"/>
            <a:ext cx="1093780" cy="1289974"/>
          </a:xfrm>
          <a:custGeom>
            <a:avLst/>
            <a:gdLst/>
            <a:ahLst/>
            <a:cxnLst/>
            <a:rect l="l" t="t" r="r" b="b"/>
            <a:pathLst>
              <a:path w="1093780" h="1289974">
                <a:moveTo>
                  <a:pt x="0" y="0"/>
                </a:moveTo>
                <a:lnTo>
                  <a:pt x="1093780" y="0"/>
                </a:lnTo>
                <a:lnTo>
                  <a:pt x="109378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39230" y="1522505"/>
            <a:ext cx="2098102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2"/>
              </a:lnSpc>
            </a:pPr>
            <a:r>
              <a:rPr lang="en-US" sz="2526" dirty="0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rPr>
              <a:t>Stop</a:t>
            </a:r>
          </a:p>
        </p:txBody>
      </p:sp>
      <p:sp>
        <p:nvSpPr>
          <p:cNvPr id="9" name="Freeform 9"/>
          <p:cNvSpPr/>
          <p:nvPr/>
        </p:nvSpPr>
        <p:spPr>
          <a:xfrm>
            <a:off x="8268976" y="2350377"/>
            <a:ext cx="4364182" cy="229572"/>
          </a:xfrm>
          <a:custGeom>
            <a:avLst/>
            <a:gdLst/>
            <a:ahLst/>
            <a:cxnLst/>
            <a:rect l="l" t="t" r="r" b="b"/>
            <a:pathLst>
              <a:path w="4364182" h="229572">
                <a:moveTo>
                  <a:pt x="0" y="0"/>
                </a:moveTo>
                <a:lnTo>
                  <a:pt x="4364182" y="0"/>
                </a:lnTo>
                <a:lnTo>
                  <a:pt x="4364182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487732" y="2569017"/>
            <a:ext cx="1093780" cy="1508614"/>
          </a:xfrm>
          <a:custGeom>
            <a:avLst/>
            <a:gdLst/>
            <a:ahLst/>
            <a:cxnLst/>
            <a:rect l="l" t="t" r="r" b="b"/>
            <a:pathLst>
              <a:path w="1093780" h="1508614">
                <a:moveTo>
                  <a:pt x="0" y="0"/>
                </a:moveTo>
                <a:lnTo>
                  <a:pt x="1093780" y="0"/>
                </a:lnTo>
                <a:lnTo>
                  <a:pt x="109378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8268976" y="4066699"/>
            <a:ext cx="4364182" cy="229572"/>
          </a:xfrm>
          <a:custGeom>
            <a:avLst/>
            <a:gdLst/>
            <a:ahLst/>
            <a:cxnLst/>
            <a:rect l="l" t="t" r="r" b="b"/>
            <a:pathLst>
              <a:path w="4364182" h="229572">
                <a:moveTo>
                  <a:pt x="0" y="0"/>
                </a:moveTo>
                <a:lnTo>
                  <a:pt x="4364182" y="0"/>
                </a:lnTo>
                <a:lnTo>
                  <a:pt x="4364182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706488" y="4285339"/>
            <a:ext cx="875024" cy="1508614"/>
          </a:xfrm>
          <a:custGeom>
            <a:avLst/>
            <a:gdLst/>
            <a:ahLst/>
            <a:cxnLst/>
            <a:rect l="l" t="t" r="r" b="b"/>
            <a:pathLst>
              <a:path w="875024" h="1508614">
                <a:moveTo>
                  <a:pt x="0" y="0"/>
                </a:moveTo>
                <a:lnTo>
                  <a:pt x="875024" y="0"/>
                </a:lnTo>
                <a:lnTo>
                  <a:pt x="87502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245104" y="4835890"/>
            <a:ext cx="1510717" cy="340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2"/>
              </a:lnSpc>
            </a:pPr>
            <a:r>
              <a:rPr lang="en-US" sz="2526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rPr>
              <a:t>Turn Right</a:t>
            </a:r>
          </a:p>
        </p:txBody>
      </p:sp>
      <p:sp>
        <p:nvSpPr>
          <p:cNvPr id="14" name="Freeform 14"/>
          <p:cNvSpPr/>
          <p:nvPr/>
        </p:nvSpPr>
        <p:spPr>
          <a:xfrm>
            <a:off x="8268976" y="5564382"/>
            <a:ext cx="4364182" cy="437279"/>
          </a:xfrm>
          <a:custGeom>
            <a:avLst/>
            <a:gdLst/>
            <a:ahLst/>
            <a:cxnLst/>
            <a:rect l="l" t="t" r="r" b="b"/>
            <a:pathLst>
              <a:path w="4364182" h="437279">
                <a:moveTo>
                  <a:pt x="0" y="0"/>
                </a:moveTo>
                <a:lnTo>
                  <a:pt x="4364182" y="0"/>
                </a:lnTo>
                <a:lnTo>
                  <a:pt x="436418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8706488" y="5990729"/>
            <a:ext cx="875024" cy="1519546"/>
          </a:xfrm>
          <a:custGeom>
            <a:avLst/>
            <a:gdLst/>
            <a:ahLst/>
            <a:cxnLst/>
            <a:rect l="l" t="t" r="r" b="b"/>
            <a:pathLst>
              <a:path w="875024" h="1519546">
                <a:moveTo>
                  <a:pt x="0" y="0"/>
                </a:moveTo>
                <a:lnTo>
                  <a:pt x="875024" y="0"/>
                </a:lnTo>
                <a:lnTo>
                  <a:pt x="875024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0246934" y="6507644"/>
            <a:ext cx="1327692" cy="340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2"/>
              </a:lnSpc>
            </a:pPr>
            <a:r>
              <a:rPr lang="en-US" sz="2526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rPr>
              <a:t>Turn Left</a:t>
            </a:r>
          </a:p>
        </p:txBody>
      </p:sp>
      <p:sp>
        <p:nvSpPr>
          <p:cNvPr id="17" name="Freeform 17"/>
          <p:cNvSpPr/>
          <p:nvPr/>
        </p:nvSpPr>
        <p:spPr>
          <a:xfrm>
            <a:off x="8268976" y="7280704"/>
            <a:ext cx="4364182" cy="229572"/>
          </a:xfrm>
          <a:custGeom>
            <a:avLst/>
            <a:gdLst/>
            <a:ahLst/>
            <a:cxnLst/>
            <a:rect l="l" t="t" r="r" b="b"/>
            <a:pathLst>
              <a:path w="4364182" h="229572">
                <a:moveTo>
                  <a:pt x="0" y="0"/>
                </a:moveTo>
                <a:lnTo>
                  <a:pt x="4364182" y="0"/>
                </a:lnTo>
                <a:lnTo>
                  <a:pt x="436418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8706488" y="7707051"/>
            <a:ext cx="875024" cy="1508614"/>
          </a:xfrm>
          <a:custGeom>
            <a:avLst/>
            <a:gdLst/>
            <a:ahLst/>
            <a:cxnLst/>
            <a:rect l="l" t="t" r="r" b="b"/>
            <a:pathLst>
              <a:path w="875024" h="1508614">
                <a:moveTo>
                  <a:pt x="0" y="0"/>
                </a:moveTo>
                <a:lnTo>
                  <a:pt x="875024" y="0"/>
                </a:lnTo>
                <a:lnTo>
                  <a:pt x="87502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0236806" y="8254701"/>
            <a:ext cx="2340525" cy="340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2"/>
              </a:lnSpc>
            </a:pPr>
            <a:r>
              <a:rPr lang="en-US" sz="2526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rPr>
              <a:t>Move Backward</a:t>
            </a:r>
          </a:p>
        </p:txBody>
      </p:sp>
      <p:sp>
        <p:nvSpPr>
          <p:cNvPr id="20" name="Freeform 20"/>
          <p:cNvSpPr/>
          <p:nvPr/>
        </p:nvSpPr>
        <p:spPr>
          <a:xfrm>
            <a:off x="13059732" y="852695"/>
            <a:ext cx="229694" cy="8581610"/>
          </a:xfrm>
          <a:custGeom>
            <a:avLst/>
            <a:gdLst/>
            <a:ahLst/>
            <a:cxnLst/>
            <a:rect l="l" t="t" r="r" b="b"/>
            <a:pathLst>
              <a:path w="229694" h="8581610">
                <a:moveTo>
                  <a:pt x="0" y="0"/>
                </a:moveTo>
                <a:lnTo>
                  <a:pt x="229694" y="0"/>
                </a:lnTo>
                <a:lnTo>
                  <a:pt x="229694" y="8581610"/>
                </a:lnTo>
                <a:lnTo>
                  <a:pt x="0" y="858161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4580086" y="852695"/>
            <a:ext cx="2187560" cy="2153601"/>
          </a:xfrm>
          <a:custGeom>
            <a:avLst/>
            <a:gdLst/>
            <a:ahLst/>
            <a:cxnLst/>
            <a:rect l="l" t="t" r="r" b="b"/>
            <a:pathLst>
              <a:path w="2187560" h="2153601">
                <a:moveTo>
                  <a:pt x="0" y="0"/>
                </a:moveTo>
                <a:lnTo>
                  <a:pt x="2187560" y="0"/>
                </a:lnTo>
                <a:lnTo>
                  <a:pt x="218756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3894574" y="3610295"/>
            <a:ext cx="3573868" cy="474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1"/>
              </a:lnSpc>
            </a:pPr>
            <a:r>
              <a:rPr lang="en-US" sz="3478" b="1">
                <a:solidFill>
                  <a:srgbClr val="0F4F96"/>
                </a:solidFill>
                <a:latin typeface="Roboto Bold"/>
                <a:ea typeface="Roboto Bold"/>
                <a:cs typeface="Roboto Bold"/>
                <a:sym typeface="Roboto Bold"/>
              </a:rPr>
              <a:t>Voice Commands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077077" y="4550046"/>
            <a:ext cx="1397037" cy="401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0"/>
              </a:lnSpc>
            </a:pPr>
            <a:r>
              <a:rPr lang="en-US" sz="2896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rPr>
              <a:t>Forward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074269" y="5257906"/>
            <a:ext cx="1677787" cy="401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0"/>
              </a:lnSpc>
            </a:pPr>
            <a:r>
              <a:rPr lang="en-US" sz="2896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rPr>
              <a:t>Backward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082278" y="6688686"/>
            <a:ext cx="876923" cy="401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0"/>
              </a:lnSpc>
            </a:pPr>
            <a:r>
              <a:rPr lang="en-US" sz="2896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rPr>
              <a:t>Right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080768" y="7411606"/>
            <a:ext cx="1027924" cy="401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0"/>
              </a:lnSpc>
            </a:pPr>
            <a:r>
              <a:rPr lang="en-US" sz="2896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rPr>
              <a:t>U-turn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083215" y="8119466"/>
            <a:ext cx="783154" cy="401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0"/>
              </a:lnSpc>
            </a:pPr>
            <a:r>
              <a:rPr lang="en-US" sz="2896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rPr>
              <a:t>Stop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253449" y="3164137"/>
            <a:ext cx="2083883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52"/>
              </a:lnSpc>
            </a:pPr>
            <a:r>
              <a:rPr lang="en-US" sz="2526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rPr>
              <a:t>Move Forward </a:t>
            </a:r>
            <a:endParaRPr lang="en-US" sz="2526" dirty="0">
              <a:solidFill>
                <a:srgbClr val="27272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4084397" y="5980826"/>
            <a:ext cx="664963" cy="401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0"/>
              </a:lnSpc>
            </a:pPr>
            <a:r>
              <a:rPr lang="en-US" sz="2896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rPr>
              <a:t>Left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68857" y="644563"/>
            <a:ext cx="6876067" cy="2373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37"/>
              </a:lnSpc>
            </a:pPr>
            <a:r>
              <a:rPr lang="en-US" sz="8798" b="1" spc="-176">
                <a:solidFill>
                  <a:srgbClr val="082F66"/>
                </a:solidFill>
                <a:latin typeface="Roboto Bold"/>
                <a:ea typeface="Roboto Bold"/>
                <a:cs typeface="Roboto Bold"/>
                <a:sym typeface="Roboto Bold"/>
              </a:rPr>
              <a:t>Advantages &amp; Future Scope</a:t>
            </a:r>
          </a:p>
        </p:txBody>
      </p:sp>
      <p:sp>
        <p:nvSpPr>
          <p:cNvPr id="4" name="Freeform 4"/>
          <p:cNvSpPr/>
          <p:nvPr/>
        </p:nvSpPr>
        <p:spPr>
          <a:xfrm>
            <a:off x="864086" y="2995365"/>
            <a:ext cx="1531292" cy="437279"/>
          </a:xfrm>
          <a:custGeom>
            <a:avLst/>
            <a:gdLst/>
            <a:ahLst/>
            <a:cxnLst/>
            <a:rect l="l" t="t" r="r" b="b"/>
            <a:pathLst>
              <a:path w="1531292" h="437279">
                <a:moveTo>
                  <a:pt x="0" y="0"/>
                </a:moveTo>
                <a:lnTo>
                  <a:pt x="1531292" y="0"/>
                </a:lnTo>
                <a:lnTo>
                  <a:pt x="153129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748622" y="4066699"/>
            <a:ext cx="4790756" cy="4722618"/>
          </a:xfrm>
          <a:custGeom>
            <a:avLst/>
            <a:gdLst/>
            <a:ahLst/>
            <a:cxnLst/>
            <a:rect l="l" t="t" r="r" b="b"/>
            <a:pathLst>
              <a:path w="4790756" h="4722618">
                <a:moveTo>
                  <a:pt x="0" y="0"/>
                </a:moveTo>
                <a:lnTo>
                  <a:pt x="4790756" y="0"/>
                </a:lnTo>
                <a:lnTo>
                  <a:pt x="4790756" y="4722619"/>
                </a:lnTo>
                <a:lnTo>
                  <a:pt x="0" y="47226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050220" y="5356674"/>
            <a:ext cx="2187560" cy="2153601"/>
          </a:xfrm>
          <a:custGeom>
            <a:avLst/>
            <a:gdLst/>
            <a:ahLst/>
            <a:cxnLst/>
            <a:rect l="l" t="t" r="r" b="b"/>
            <a:pathLst>
              <a:path w="2187560" h="2153601">
                <a:moveTo>
                  <a:pt x="0" y="0"/>
                </a:moveTo>
                <a:lnTo>
                  <a:pt x="2187560" y="0"/>
                </a:lnTo>
                <a:lnTo>
                  <a:pt x="218756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998574" y="3848060"/>
            <a:ext cx="2625072" cy="1082267"/>
          </a:xfrm>
          <a:custGeom>
            <a:avLst/>
            <a:gdLst/>
            <a:ahLst/>
            <a:cxnLst/>
            <a:rect l="l" t="t" r="r" b="b"/>
            <a:pathLst>
              <a:path w="2625072" h="1082267">
                <a:moveTo>
                  <a:pt x="0" y="0"/>
                </a:moveTo>
                <a:lnTo>
                  <a:pt x="2625072" y="0"/>
                </a:lnTo>
                <a:lnTo>
                  <a:pt x="262507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731000" y="3770833"/>
            <a:ext cx="1918947" cy="96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08"/>
              </a:lnSpc>
            </a:pPr>
            <a:r>
              <a:rPr lang="en-US" sz="2896" spc="-57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Contactless operation</a:t>
            </a:r>
          </a:p>
        </p:txBody>
      </p:sp>
      <p:sp>
        <p:nvSpPr>
          <p:cNvPr id="9" name="Freeform 9"/>
          <p:cNvSpPr/>
          <p:nvPr/>
        </p:nvSpPr>
        <p:spPr>
          <a:xfrm>
            <a:off x="4998574" y="6209369"/>
            <a:ext cx="1760986" cy="229572"/>
          </a:xfrm>
          <a:custGeom>
            <a:avLst/>
            <a:gdLst/>
            <a:ahLst/>
            <a:cxnLst/>
            <a:rect l="l" t="t" r="r" b="b"/>
            <a:pathLst>
              <a:path w="1760986" h="229572">
                <a:moveTo>
                  <a:pt x="0" y="0"/>
                </a:moveTo>
                <a:lnTo>
                  <a:pt x="1760986" y="0"/>
                </a:lnTo>
                <a:lnTo>
                  <a:pt x="176098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733923" y="5788985"/>
            <a:ext cx="1915994" cy="96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08"/>
              </a:lnSpc>
            </a:pPr>
            <a:r>
              <a:rPr lang="en-US" sz="2896" spc="-57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Two control modes</a:t>
            </a:r>
          </a:p>
        </p:txBody>
      </p:sp>
      <p:sp>
        <p:nvSpPr>
          <p:cNvPr id="11" name="Freeform 11"/>
          <p:cNvSpPr/>
          <p:nvPr/>
        </p:nvSpPr>
        <p:spPr>
          <a:xfrm>
            <a:off x="4998574" y="7925691"/>
            <a:ext cx="2625072" cy="1082267"/>
          </a:xfrm>
          <a:custGeom>
            <a:avLst/>
            <a:gdLst/>
            <a:ahLst/>
            <a:cxnLst/>
            <a:rect l="l" t="t" r="r" b="b"/>
            <a:pathLst>
              <a:path w="2625072" h="1082267">
                <a:moveTo>
                  <a:pt x="0" y="0"/>
                </a:moveTo>
                <a:lnTo>
                  <a:pt x="2625072" y="0"/>
                </a:lnTo>
                <a:lnTo>
                  <a:pt x="262507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657826" y="8002929"/>
            <a:ext cx="2993760" cy="96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08"/>
              </a:lnSpc>
            </a:pPr>
            <a:r>
              <a:rPr lang="en-US" sz="2896" spc="-57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Simple and</a:t>
            </a:r>
          </a:p>
          <a:p>
            <a:pPr algn="r">
              <a:lnSpc>
                <a:spcPts val="3908"/>
              </a:lnSpc>
            </a:pPr>
            <a:r>
              <a:rPr lang="en-US" sz="2896" spc="-57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low-cost prototype</a:t>
            </a:r>
          </a:p>
        </p:txBody>
      </p:sp>
      <p:sp>
        <p:nvSpPr>
          <p:cNvPr id="13" name="Freeform 13"/>
          <p:cNvSpPr/>
          <p:nvPr/>
        </p:nvSpPr>
        <p:spPr>
          <a:xfrm>
            <a:off x="10664354" y="3848060"/>
            <a:ext cx="2625072" cy="1082267"/>
          </a:xfrm>
          <a:custGeom>
            <a:avLst/>
            <a:gdLst/>
            <a:ahLst/>
            <a:cxnLst/>
            <a:rect l="l" t="t" r="r" b="b"/>
            <a:pathLst>
              <a:path w="2625072" h="1082267">
                <a:moveTo>
                  <a:pt x="0" y="0"/>
                </a:moveTo>
                <a:lnTo>
                  <a:pt x="2625072" y="0"/>
                </a:lnTo>
                <a:lnTo>
                  <a:pt x="262507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3396031" y="3590102"/>
            <a:ext cx="2528886" cy="96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8"/>
              </a:lnSpc>
            </a:pPr>
            <a:r>
              <a:rPr lang="en-US" sz="2896" spc="-57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Wireless communication</a:t>
            </a:r>
          </a:p>
        </p:txBody>
      </p:sp>
      <p:sp>
        <p:nvSpPr>
          <p:cNvPr id="15" name="Freeform 15"/>
          <p:cNvSpPr/>
          <p:nvPr/>
        </p:nvSpPr>
        <p:spPr>
          <a:xfrm>
            <a:off x="11320622" y="6209369"/>
            <a:ext cx="1968804" cy="229572"/>
          </a:xfrm>
          <a:custGeom>
            <a:avLst/>
            <a:gdLst/>
            <a:ahLst/>
            <a:cxnLst/>
            <a:rect l="l" t="t" r="r" b="b"/>
            <a:pathLst>
              <a:path w="1968804" h="229572">
                <a:moveTo>
                  <a:pt x="0" y="0"/>
                </a:moveTo>
                <a:lnTo>
                  <a:pt x="1968804" y="0"/>
                </a:lnTo>
                <a:lnTo>
                  <a:pt x="196880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3391148" y="5502829"/>
            <a:ext cx="3017199" cy="1447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8"/>
              </a:lnSpc>
            </a:pPr>
            <a:r>
              <a:rPr lang="en-US" sz="2896" spc="-57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Obstacle detection and emergency braking</a:t>
            </a:r>
          </a:p>
        </p:txBody>
      </p:sp>
      <p:sp>
        <p:nvSpPr>
          <p:cNvPr id="17" name="Freeform 17"/>
          <p:cNvSpPr/>
          <p:nvPr/>
        </p:nvSpPr>
        <p:spPr>
          <a:xfrm>
            <a:off x="10664354" y="7925691"/>
            <a:ext cx="2625072" cy="1082267"/>
          </a:xfrm>
          <a:custGeom>
            <a:avLst/>
            <a:gdLst/>
            <a:ahLst/>
            <a:cxnLst/>
            <a:rect l="l" t="t" r="r" b="b"/>
            <a:pathLst>
              <a:path w="2625072" h="1082267">
                <a:moveTo>
                  <a:pt x="0" y="0"/>
                </a:moveTo>
                <a:lnTo>
                  <a:pt x="2625072" y="0"/>
                </a:lnTo>
                <a:lnTo>
                  <a:pt x="262507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3388170" y="7641469"/>
            <a:ext cx="3315063" cy="1929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8"/>
              </a:lnSpc>
            </a:pPr>
            <a:r>
              <a:rPr lang="en-US" sz="2896" spc="-57">
                <a:solidFill>
                  <a:srgbClr val="1B1B1B"/>
                </a:solidFill>
                <a:latin typeface="Roboto"/>
                <a:ea typeface="Roboto"/>
                <a:cs typeface="Roboto"/>
                <a:sym typeface="Roboto"/>
              </a:rPr>
              <a:t>GPS tracking, caregiver monitoring and autonomous navigation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924854" y="1971132"/>
            <a:ext cx="12124681" cy="2694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12"/>
              </a:lnSpc>
            </a:pPr>
            <a:r>
              <a:rPr lang="en-US" sz="20212" b="1" spc="-404">
                <a:solidFill>
                  <a:srgbClr val="052552"/>
                </a:solidFill>
                <a:latin typeface="Roboto Bold"/>
                <a:ea typeface="Roboto Bold"/>
                <a:cs typeface="Roboto Bold"/>
                <a:sym typeface="Roboto Bold"/>
              </a:rPr>
              <a:t>Thank You</a:t>
            </a:r>
          </a:p>
        </p:txBody>
      </p:sp>
      <p:sp>
        <p:nvSpPr>
          <p:cNvPr id="4" name="Freeform 4"/>
          <p:cNvSpPr/>
          <p:nvPr/>
        </p:nvSpPr>
        <p:spPr>
          <a:xfrm>
            <a:off x="5654842" y="4711687"/>
            <a:ext cx="6759560" cy="218640"/>
          </a:xfrm>
          <a:custGeom>
            <a:avLst/>
            <a:gdLst/>
            <a:ahLst/>
            <a:cxnLst/>
            <a:rect l="l" t="t" r="r" b="b"/>
            <a:pathLst>
              <a:path w="6759560" h="218640">
                <a:moveTo>
                  <a:pt x="0" y="0"/>
                </a:moveTo>
                <a:lnTo>
                  <a:pt x="6759560" y="0"/>
                </a:lnTo>
                <a:lnTo>
                  <a:pt x="6759560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329980" y="5349331"/>
            <a:ext cx="7314430" cy="1356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37"/>
              </a:lnSpc>
            </a:pPr>
            <a:r>
              <a:rPr lang="en-US" sz="4530">
                <a:solidFill>
                  <a:srgbClr val="0B0B0B"/>
                </a:solidFill>
                <a:latin typeface="Roboto"/>
                <a:ea typeface="Roboto"/>
                <a:cs typeface="Roboto"/>
                <a:sym typeface="Roboto"/>
              </a:rPr>
              <a:t>AI-Based Voice and Gesture</a:t>
            </a:r>
          </a:p>
          <a:p>
            <a:pPr algn="ctr">
              <a:lnSpc>
                <a:spcPts val="5437"/>
              </a:lnSpc>
            </a:pPr>
            <a:r>
              <a:rPr lang="en-US" sz="4530">
                <a:solidFill>
                  <a:srgbClr val="0B0B0B"/>
                </a:solidFill>
                <a:latin typeface="Roboto"/>
                <a:ea typeface="Roboto"/>
                <a:cs typeface="Roboto"/>
                <a:sym typeface="Roboto"/>
              </a:rPr>
              <a:t>Controlled Wheelchair</a:t>
            </a:r>
          </a:p>
        </p:txBody>
      </p:sp>
      <p:sp>
        <p:nvSpPr>
          <p:cNvPr id="6" name="Freeform 6"/>
          <p:cNvSpPr/>
          <p:nvPr/>
        </p:nvSpPr>
        <p:spPr>
          <a:xfrm>
            <a:off x="3915732" y="7062064"/>
            <a:ext cx="10456536" cy="1727254"/>
          </a:xfrm>
          <a:custGeom>
            <a:avLst/>
            <a:gdLst/>
            <a:ahLst/>
            <a:cxnLst/>
            <a:rect l="l" t="t" r="r" b="b"/>
            <a:pathLst>
              <a:path w="10456536" h="1727254">
                <a:moveTo>
                  <a:pt x="0" y="0"/>
                </a:moveTo>
                <a:lnTo>
                  <a:pt x="10456536" y="0"/>
                </a:lnTo>
                <a:lnTo>
                  <a:pt x="1045653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487122" y="7533153"/>
            <a:ext cx="7000144" cy="874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5831" b="1" spc="-116">
                <a:solidFill>
                  <a:srgbClr val="F6F8F7"/>
                </a:solidFill>
                <a:latin typeface="Roboto Bold"/>
                <a:ea typeface="Roboto Bold"/>
                <a:cs typeface="Roboto Bold"/>
                <a:sym typeface="Roboto Bold"/>
              </a:rP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266</Words>
  <Application>Microsoft Office PowerPoint</Application>
  <PresentationFormat>Custom</PresentationFormat>
  <Paragraphs>95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Roboto</vt:lpstr>
      <vt:lpstr>Roboto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Wheelchair Project</dc:title>
  <cp:lastModifiedBy>Vikash J</cp:lastModifiedBy>
  <cp:revision>3</cp:revision>
  <dcterms:created xsi:type="dcterms:W3CDTF">2006-08-16T00:00:00Z</dcterms:created>
  <dcterms:modified xsi:type="dcterms:W3CDTF">2026-10-08T04:14:28Z</dcterms:modified>
  <dc:identifier>DAHXY8XtSrc</dc:identifier>
</cp:coreProperties>
</file>